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9" d="100"/>
          <a:sy n="119" d="100"/>
        </p:scale>
        <p:origin x="3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70202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group and the project title. The project looks at how people eat as a whole pattern, using a digital food logging tool. Today we cover the concepts, our objectives, the survey we ran and its data, how we analysed it, and how far we have got with each objective.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dietary pattern is the whole picture of what someone eats, how often and in what combination. Pattern analysis studies that picture instead of one nutrient. That matters because two people can eat the same protein but have very different diets overall. The five common patterns at the bottom come from our background reading; later we classify our respondents into patterns of our own using predefined rules.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objectives from our methodology. Keep them in mind: at the end of the deck we go back to each one and say honestly how far the work so far has met it.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runs in two phases. Phase 1 is a survey about habits, nutrition knowledge and experience with apps. It tells us what people struggle with and what the logging tool has to handle. Phase 2 is the seven-day food log itself, which gives actual intake data. The pipeline at the bottom is how the food-log data will move from raw entries to tables and graphs. Today's results come from Phase 1.</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technology-based food logging tool is a digital food diary. Food is recorded in real time, so people rely less on memory, nutrients are calculated automatically, and several days of data can be stored and exported. We picked Syntropy, an open-source app, because its features line up with Indian eating habits: Indian food values, household portion units, photo and typed logging. We checked these features in the source code itself. The orange box lists what it does not do, which matters for objectives 2 to 4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answers two questions directly: what data we collected, and how we are analysing and presenting it. After that come the results.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cross-sectional and self-reported. Most of it is quantitative: closed questions coded as nominal categories, ordinal frequency scales, five-point Likert agreement, and multi-select answers turned into yes or no columns. Section F adds qualitative data in the respondents' own words. Be upfront that this first dataset of 35 is a simulated pilot, made to test the questionnaire and the full analysis before the real round. It is not evidence about any real population, and it contains no measured intake; that comes from the seven-day food log.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respondents are mostly young adults: 21 of 35 are students, and the largest age group is 21 to 23. Gender is close to even. About half eat non-vegetarian food, and about half get most meals at home. This mix matters because diet type and meal source turn out to shape the answers later.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analysing anything we cleaned the data in four steps. The raw sheet keeps answers word for word. The cleaned sheet turns them into numbers so Excel can count and average them. We were careful with missing values: someone who never used an app should not count as disagreeing with an app question, so those cells say Not applicable. Finally, 24 checks confirm there are no duplicates, blanks or impossible answers, and that the form's branching was followed. All 24 passed.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analysis is descriptive, which suits a basic dietary pattern project with 35 responses. We use counts and percentages for categories, mean and standard deviation for scores, and medians and ranges where scores spread out. Group comparisons, such as home-cooked versus mess eaters, are shown side by side without significance tests, because the sample is too small for them. For presentation we use bar charts, tables and a few big numbers, and we always say what the percentage is out of.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covers objective 3, meal frequency and timing. On average people eat three main meals, with little spread. But more than a third skip breakfast on three or more days, and 40 percent describe their timings as irregular. Breakfast skipping is mostly a mess and restaurant pattern; people eating home food rarely skip 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frequency part of objective 2. Vegetables are the strong point: two thirds eat them on five or more days. Fruit is the weak point: only 10 of 35 eat it that often, and a third eat it twice a week or less. Half eat packaged food like chips, biscuits or instant noodles on three or more days. The survey covers these items only; cereals, pulses, dairy and protein foods will come from the food log.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compare groups by where most of their meals come from. Home-cooked eaters score best on every item: more fruit and vegetables, less packaged food, almost no skipped breakfasts. Restaurant and delivery eaters are the opposite. Mess eaters snack the most. This is a descriptive comparison only; with groups as small as four people we cannot claim the meal source causes these differences.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first attempt at objective 1. We wrote the rules first, then applied them in order, so each person lands in exactly one pattern. Processed-food-dominant is anyone eating packaged food five or more days. Fruit-and-veg-rich needs both on five or more days and little packaged food. The other two follow. The patterns line up with meal source: no home-cooked eater is processed-food-dominant, and almost all the fruit-and-veg-rich group eat at home. These come from what people say they usually eat, so the food log is needed to confirm them.</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nearest the survey gets to objective 4. Protein is the nutrient people most often think they lack, 15 of 35, and it is not only a vegetarian worry. Ratings sit around the middle of the scale: people half agree their meals are balanced and lean towards disagreeing that they get enough protein. Knowledge of one's own calorie and protein needs varies the most. These are beliefs. Whether protein is actually low needs the food-log data.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answers are about portion sizes and food knowledge, part of objective 3. The hardest tasks are the ones closest to Indian home cooking: mixed dishes like curries and khichdi, and finding values for dishes like dal or poha. Reading packaged food labels is the easiest. People also think in roti and katori, not grams, which is why household units matter for the logging tool. More than half do not trust the information they find, mostly from Google and social media.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 of 35 have tried a tracking app, but more have stopped than still use one. Satisfaction is middling, and much lower for people who quit. The two biggest complaints are that manual logging takes too long and that useful features sit behind a subscription. Half of those who quit did so because logging was tedious or they forgot. For our seven-day food log this is a warning: logging has to be quick, or people will drop out partway.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Asked to choose only three features, people put photo logging first, then recognition of Indian and home-cooked dishes, then household units like roti and katori. These match the difficulties on the earlier slide. On willingness, the average is just above the midpoint for logging everything for seven days, but it drops sharply for people who have never used an app. So for Phase 2 we need to brief never-users well and keep logging fast.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links the survey problems to the tool. The top five problems are already covered by features we confirmed in Syntropy's source code: Indian food values, mixed dishes, household units, faster logging and no paywall. The gaps are the ones that matter most for our objectives: no fibre or micronutrients, no meal-timing analysis, and no food-group or diversity tracking. We will have to work those out ourselves from the exported logs in Phase 2.</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go back to the four objectives and judge each one against the data we actually have.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answer to how well we met the objectives. Objective 3 is mostly met: meal frequency, snacking and timing all come straight from the survey. Objectives 1 and 2 are partly met: we have patterns and food frequencies, but from what people report as usual habits, and for only some food groups. Objective 4 is not met yet, because a survey cannot measure energy or macronutrient intake. The survey was designed as the groundwork, and the food log is where objectives 1, 2 and 4 get completed.</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strengths: the form is structured and branched, the analysis is transparent and reproducible, and the tool choice is backed by the data. On limitations: the biggest one is that this first dataset is simulated, so its numbers show the method working, not facts about real people. Survey answers are self-reported and only describe usual frequency. The sample is small and student-heavy. We also found a design flaw in our own form: someone who wants none of the features in E1 is still forced to pick three in E2. And the food log will bring its own problems, such as people under-reporting snacks or eating differently because they know they are being recorded.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the objectives we first replace the pilot data with real responses, then run the seven-day food log. We clean the logs carefully and treat an incomplete day as incomplete, not as a low-intake day. Then we sort foods into groups, score dietary diversity, and calculate energy and macronutrients. Results will be compared with the ICMR-NIN 2024 guidelines, keeping in mind that needs differ by age, sex and activity.</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thirty-second summary if asked to explain the whole project quickly, then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4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3950"/>
            <a:ext cx="10566400" cy="444500"/>
          </a:xfrm>
          <a:prstGeom prst="rect">
            <a:avLst/>
          </a:prstGeom>
          <a:noFill/>
          <a:ln/>
        </p:spPr>
        <p:txBody>
          <a:bodyPr wrap="square" lIns="0" tIns="0" rIns="0" bIns="0" rtlCol="0" anchor="t"/>
          <a:lstStyle>
            <a:lvl1pPr marL="0" indent="0" algn="l">
              <a:lnSpc>
                <a:spcPct val="115000"/>
              </a:lnSpc>
              <a:buNone/>
              <a:defRPr lang="en-US" sz="3200" dirty="0">
                <a:solidFill>
                  <a:srgbClr val="1F3A2E"/>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3250"/>
            <a:ext cx="10566400" cy="4171950"/>
          </a:xfrm>
          <a:prstGeom prst="rect">
            <a:avLst/>
          </a:prstGeom>
          <a:noFill/>
          <a:ln/>
        </p:spPr>
        <p:txBody>
          <a:bodyPr wrap="square" lIns="0" tIns="0" rIns="0" bIns="0" rtlCol="0" anchor="t"/>
          <a:lstStyle>
            <a:lvl1pPr marL="0" indent="0" algn="l">
              <a:lnSpc>
                <a:spcPct val="140000"/>
              </a:lnSpc>
              <a:buNone/>
              <a:defRPr lang="en-US" sz="1600" dirty="0">
                <a:solidFill>
                  <a:srgbClr val="1F3A2E"/>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4E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3950"/>
            <a:ext cx="10566400" cy="444500"/>
          </a:xfrm>
          <a:prstGeom prst="rect">
            <a:avLst/>
          </a:prstGeom>
          <a:noFill/>
          <a:ln/>
        </p:spPr>
        <p:txBody>
          <a:bodyPr wrap="square" lIns="0" tIns="0" rIns="0" bIns="0" rtlCol="0" anchor="t"/>
          <a:lstStyle>
            <a:lvl1pPr marL="0" indent="0" algn="l">
              <a:lnSpc>
                <a:spcPct val="115000"/>
              </a:lnSpc>
              <a:buNone/>
              <a:defRPr lang="en-US" sz="3200" dirty="0">
                <a:solidFill>
                  <a:srgbClr val="1F3A2E"/>
                </a:solidFill>
                <a:latin typeface="Georgia" pitchFamily="34" charset="0"/>
                <a:ea typeface="Georgia" pitchFamily="34" charset="-122"/>
                <a:cs typeface="Georgia"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3250"/>
            <a:ext cx="10566400" cy="4171950"/>
          </a:xfrm>
          <a:prstGeom prst="rect">
            <a:avLst/>
          </a:prstGeom>
          <a:noFill/>
          <a:ln/>
        </p:spPr>
        <p:txBody>
          <a:bodyPr wrap="square" lIns="0" tIns="0" rIns="0" bIns="0" rtlCol="0" anchor="t"/>
          <a:lstStyle>
            <a:lvl1pPr marL="0" indent="0" algn="l">
              <a:lnSpc>
                <a:spcPct val="140000"/>
              </a:lnSpc>
              <a:buNone/>
              <a:defRPr lang="en-US" sz="1600" dirty="0">
                <a:solidFill>
                  <a:srgbClr val="1F3A2E"/>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A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A94A"/>
                </a:solidFill>
                <a:latin typeface="Arial" pitchFamily="34" charset="0"/>
                <a:ea typeface="Arial" pitchFamily="34" charset="-122"/>
                <a:cs typeface="Arial" pitchFamily="34" charset="-120"/>
              </a:rPr>
              <a:t>NUTRITION FOR HEALTH · PROJECT PRESENTATION</a:t>
            </a:r>
            <a:endParaRPr lang="en-US" sz="1200" dirty="0"/>
          </a:p>
        </p:txBody>
      </p:sp>
      <p:sp>
        <p:nvSpPr>
          <p:cNvPr id="3" name="Text 1"/>
          <p:cNvSpPr>
            <a:spLocks noGrp="1"/>
          </p:cNvSpPr>
          <p:nvPr>
            <p:ph type="title"/>
          </p:nvPr>
        </p:nvSpPr>
        <p:spPr>
          <a:xfrm>
            <a:off x="812800" y="2187575"/>
            <a:ext cx="10883392" cy="202565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7F4EC"/>
                </a:solidFill>
                <a:latin typeface="Georgia" pitchFamily="18" charset="0"/>
                <a:ea typeface="Georgia" pitchFamily="18" charset="-122"/>
                <a:cs typeface="Georgia" pitchFamily="18" charset="-120"/>
              </a:rPr>
              <a:t>Dietary Pattern Analysis Using a Technology-Based Food Logging Tool</a:t>
            </a:r>
            <a:endParaRPr lang="en-US" sz="4800" dirty="0"/>
          </a:p>
        </p:txBody>
      </p:sp>
      <p:sp>
        <p:nvSpPr>
          <p:cNvPr id="4" name="Text 2"/>
          <p:cNvSpPr/>
          <p:nvPr/>
        </p:nvSpPr>
        <p:spPr>
          <a:xfrm>
            <a:off x="812800" y="4391025"/>
            <a:ext cx="10883392" cy="3048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8CF"/>
                </a:solidFill>
                <a:latin typeface="Arial" pitchFamily="34" charset="0"/>
                <a:ea typeface="Arial" pitchFamily="34" charset="-122"/>
                <a:cs typeface="Arial" pitchFamily="34" charset="-120"/>
              </a:rPr>
              <a:t>User-needs survey, data analysis and progress against our objectives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BACKGROUND</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Looking at the whole plate</a:t>
            </a:r>
            <a:endParaRPr lang="en-US" sz="3200" dirty="0"/>
          </a:p>
        </p:txBody>
      </p:sp>
      <p:sp>
        <p:nvSpPr>
          <p:cNvPr id="4" name="Shape 2"/>
          <p:cNvSpPr/>
          <p:nvPr/>
        </p:nvSpPr>
        <p:spPr>
          <a:xfrm>
            <a:off x="815975" y="1876425"/>
            <a:ext cx="3384550" cy="2457450"/>
          </a:xfrm>
          <a:prstGeom prst="roundRect">
            <a:avLst>
              <a:gd name="adj" fmla="val 4005"/>
            </a:avLst>
          </a:prstGeom>
          <a:solidFill>
            <a:srgbClr val="FFFDF7"/>
          </a:solidFill>
          <a:ln w="6350">
            <a:solidFill>
              <a:srgbClr val="E0D8C6"/>
            </a:solidFill>
            <a:prstDash val="solid"/>
          </a:ln>
        </p:spPr>
        <p:txBody>
          <a:bodyPr/>
          <a:lstStyle/>
          <a:p>
            <a:endParaRPr lang="en-US"/>
          </a:p>
        </p:txBody>
      </p:sp>
      <p:sp>
        <p:nvSpPr>
          <p:cNvPr id="5" name="Text 3"/>
          <p:cNvSpPr/>
          <p:nvPr/>
        </p:nvSpPr>
        <p:spPr>
          <a:xfrm>
            <a:off x="1073150" y="2133600"/>
            <a:ext cx="2956306"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Dietary pattern</a:t>
            </a:r>
            <a:endParaRPr lang="en-US" sz="1600" dirty="0"/>
          </a:p>
        </p:txBody>
      </p:sp>
      <p:sp>
        <p:nvSpPr>
          <p:cNvPr id="6" name="Text 4"/>
          <p:cNvSpPr/>
          <p:nvPr/>
        </p:nvSpPr>
        <p:spPr>
          <a:xfrm>
            <a:off x="1073150" y="2476500"/>
            <a:ext cx="2956306" cy="1625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50"/>
                </a:solidFill>
                <a:latin typeface="Arial" pitchFamily="34" charset="0"/>
                <a:ea typeface="Arial" pitchFamily="34" charset="-122"/>
                <a:cs typeface="Arial" pitchFamily="34" charset="-120"/>
              </a:rPr>
              <a:t>The overall combination, variety, quantity and frequency of foods and drinks a person eats over time: what is eaten, how often, and how foods are combined across cereals, pulses, fruit, vegetables, dairy, protein foods, fats and processed foods.</a:t>
            </a:r>
            <a:endParaRPr lang="en-US" sz="1200" dirty="0"/>
          </a:p>
        </p:txBody>
      </p:sp>
      <p:sp>
        <p:nvSpPr>
          <p:cNvPr id="7" name="Shape 5"/>
          <p:cNvSpPr/>
          <p:nvPr/>
        </p:nvSpPr>
        <p:spPr>
          <a:xfrm>
            <a:off x="4410075" y="1876425"/>
            <a:ext cx="3384550" cy="2457450"/>
          </a:xfrm>
          <a:prstGeom prst="roundRect">
            <a:avLst>
              <a:gd name="adj" fmla="val 4005"/>
            </a:avLst>
          </a:prstGeom>
          <a:solidFill>
            <a:srgbClr val="FFFDF7"/>
          </a:solidFill>
          <a:ln w="6350">
            <a:solidFill>
              <a:srgbClr val="E0D8C6"/>
            </a:solidFill>
            <a:prstDash val="solid"/>
          </a:ln>
        </p:spPr>
        <p:txBody>
          <a:bodyPr/>
          <a:lstStyle/>
          <a:p>
            <a:endParaRPr lang="en-US"/>
          </a:p>
        </p:txBody>
      </p:sp>
      <p:sp>
        <p:nvSpPr>
          <p:cNvPr id="8" name="Text 6"/>
          <p:cNvSpPr/>
          <p:nvPr/>
        </p:nvSpPr>
        <p:spPr>
          <a:xfrm>
            <a:off x="4667250" y="2133600"/>
            <a:ext cx="2956306"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Dietary pattern analysis</a:t>
            </a:r>
            <a:endParaRPr lang="en-US" sz="1600" dirty="0"/>
          </a:p>
        </p:txBody>
      </p:sp>
      <p:sp>
        <p:nvSpPr>
          <p:cNvPr id="9" name="Text 7"/>
          <p:cNvSpPr/>
          <p:nvPr/>
        </p:nvSpPr>
        <p:spPr>
          <a:xfrm>
            <a:off x="4667250" y="2476500"/>
            <a:ext cx="2956306"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50"/>
                </a:solidFill>
                <a:latin typeface="Arial" pitchFamily="34" charset="0"/>
                <a:ea typeface="Arial" pitchFamily="34" charset="-122"/>
                <a:cs typeface="Arial" pitchFamily="34" charset="-120"/>
              </a:rPr>
              <a:t>The systematic study of that combination. It looks at food types, frequency, portion sizes, meal frequency and timing, food groups, dietary diversity, and energy, macronutrient and micronutrient intake.</a:t>
            </a:r>
            <a:endParaRPr lang="en-US" sz="1200" dirty="0"/>
          </a:p>
        </p:txBody>
      </p:sp>
      <p:sp>
        <p:nvSpPr>
          <p:cNvPr id="10" name="Shape 8"/>
          <p:cNvSpPr/>
          <p:nvPr/>
        </p:nvSpPr>
        <p:spPr>
          <a:xfrm>
            <a:off x="8001000" y="1873250"/>
            <a:ext cx="3378200" cy="2463800"/>
          </a:xfrm>
          <a:prstGeom prst="roundRect">
            <a:avLst>
              <a:gd name="adj" fmla="val 4124"/>
            </a:avLst>
          </a:prstGeom>
          <a:solidFill>
            <a:srgbClr val="1F3A2E"/>
          </a:solidFill>
          <a:ln/>
        </p:spPr>
        <p:txBody>
          <a:bodyPr/>
          <a:lstStyle/>
          <a:p>
            <a:endParaRPr lang="en-US"/>
          </a:p>
        </p:txBody>
      </p:sp>
      <p:sp>
        <p:nvSpPr>
          <p:cNvPr id="11" name="Text 9"/>
          <p:cNvSpPr/>
          <p:nvPr/>
        </p:nvSpPr>
        <p:spPr>
          <a:xfrm>
            <a:off x="8255000" y="2127250"/>
            <a:ext cx="2956306"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4EC"/>
                </a:solidFill>
                <a:latin typeface="Georgia" pitchFamily="18" charset="0"/>
                <a:ea typeface="Georgia" pitchFamily="18" charset="-122"/>
                <a:cs typeface="Georgia" pitchFamily="18" charset="-120"/>
              </a:rPr>
              <a:t>Why patterns?</a:t>
            </a:r>
            <a:endParaRPr lang="en-US" sz="1600" dirty="0"/>
          </a:p>
        </p:txBody>
      </p:sp>
      <p:sp>
        <p:nvSpPr>
          <p:cNvPr id="12" name="Text 10"/>
          <p:cNvSpPr/>
          <p:nvPr/>
        </p:nvSpPr>
        <p:spPr>
          <a:xfrm>
            <a:off x="8255000" y="2470150"/>
            <a:ext cx="2956306" cy="11684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C9D8CF"/>
                </a:solidFill>
                <a:latin typeface="Arial" pitchFamily="34" charset="0"/>
                <a:ea typeface="Arial" pitchFamily="34" charset="-122"/>
                <a:cs typeface="Arial" pitchFamily="34" charset="-120"/>
              </a:rPr>
              <a:t>Nutrient analysis studies one nutrient at a time, such as iron or protein. Health depends on the whole combination of foods, so pattern analysis shows variety, balance, gaps and habits together.</a:t>
            </a:r>
            <a:endParaRPr lang="en-US" sz="1200" dirty="0"/>
          </a:p>
        </p:txBody>
      </p:sp>
      <p:sp>
        <p:nvSpPr>
          <p:cNvPr id="13" name="Text 11"/>
          <p:cNvSpPr/>
          <p:nvPr/>
        </p:nvSpPr>
        <p:spPr>
          <a:xfrm>
            <a:off x="812800" y="464185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Common dietary patterns</a:t>
            </a:r>
            <a:endParaRPr lang="en-US" sz="1200" dirty="0"/>
          </a:p>
        </p:txBody>
      </p:sp>
      <p:sp>
        <p:nvSpPr>
          <p:cNvPr id="14" name="Shape 12"/>
          <p:cNvSpPr/>
          <p:nvPr/>
        </p:nvSpPr>
        <p:spPr>
          <a:xfrm>
            <a:off x="812800" y="4953000"/>
            <a:ext cx="1575594" cy="361950"/>
          </a:xfrm>
          <a:prstGeom prst="roundRect">
            <a:avLst>
              <a:gd name="adj" fmla="val 50000"/>
            </a:avLst>
          </a:prstGeom>
          <a:solidFill>
            <a:srgbClr val="E7DFCC"/>
          </a:solidFill>
          <a:ln/>
        </p:spPr>
        <p:txBody>
          <a:bodyPr/>
          <a:lstStyle/>
          <a:p>
            <a:endParaRPr lang="en-US"/>
          </a:p>
        </p:txBody>
      </p:sp>
      <p:sp>
        <p:nvSpPr>
          <p:cNvPr id="15" name="Text 13"/>
          <p:cNvSpPr/>
          <p:nvPr/>
        </p:nvSpPr>
        <p:spPr>
          <a:xfrm>
            <a:off x="965200" y="5029200"/>
            <a:ext cx="1321594"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Balanced or varied</a:t>
            </a:r>
            <a:endParaRPr lang="en-US" sz="1200" dirty="0"/>
          </a:p>
        </p:txBody>
      </p:sp>
      <p:sp>
        <p:nvSpPr>
          <p:cNvPr id="16" name="Shape 14"/>
          <p:cNvSpPr/>
          <p:nvPr/>
        </p:nvSpPr>
        <p:spPr>
          <a:xfrm>
            <a:off x="2489994" y="4953000"/>
            <a:ext cx="1233587" cy="361950"/>
          </a:xfrm>
          <a:prstGeom prst="roundRect">
            <a:avLst>
              <a:gd name="adj" fmla="val 50000"/>
            </a:avLst>
          </a:prstGeom>
          <a:solidFill>
            <a:srgbClr val="E7DFCC"/>
          </a:solidFill>
          <a:ln/>
        </p:spPr>
        <p:txBody>
          <a:bodyPr/>
          <a:lstStyle/>
          <a:p>
            <a:endParaRPr lang="en-US"/>
          </a:p>
        </p:txBody>
      </p:sp>
      <p:sp>
        <p:nvSpPr>
          <p:cNvPr id="17" name="Text 15"/>
          <p:cNvSpPr/>
          <p:nvPr/>
        </p:nvSpPr>
        <p:spPr>
          <a:xfrm>
            <a:off x="2642394" y="5029200"/>
            <a:ext cx="97958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Western-style</a:t>
            </a:r>
            <a:endParaRPr lang="en-US" sz="1200" dirty="0"/>
          </a:p>
        </p:txBody>
      </p:sp>
      <p:sp>
        <p:nvSpPr>
          <p:cNvPr id="18" name="Shape 16"/>
          <p:cNvSpPr/>
          <p:nvPr/>
        </p:nvSpPr>
        <p:spPr>
          <a:xfrm>
            <a:off x="3825180" y="4953000"/>
            <a:ext cx="1118195" cy="361950"/>
          </a:xfrm>
          <a:prstGeom prst="roundRect">
            <a:avLst>
              <a:gd name="adj" fmla="val 50000"/>
            </a:avLst>
          </a:prstGeom>
          <a:solidFill>
            <a:srgbClr val="E7DFCC"/>
          </a:solidFill>
          <a:ln/>
        </p:spPr>
        <p:txBody>
          <a:bodyPr/>
          <a:lstStyle/>
          <a:p>
            <a:endParaRPr lang="en-US"/>
          </a:p>
        </p:txBody>
      </p:sp>
      <p:sp>
        <p:nvSpPr>
          <p:cNvPr id="19" name="Text 17"/>
          <p:cNvSpPr/>
          <p:nvPr/>
        </p:nvSpPr>
        <p:spPr>
          <a:xfrm>
            <a:off x="3977580" y="5029200"/>
            <a:ext cx="86419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Plant-based</a:t>
            </a:r>
            <a:endParaRPr lang="en-US" sz="1200" dirty="0"/>
          </a:p>
        </p:txBody>
      </p:sp>
      <p:sp>
        <p:nvSpPr>
          <p:cNvPr id="20" name="Shape 18"/>
          <p:cNvSpPr/>
          <p:nvPr/>
        </p:nvSpPr>
        <p:spPr>
          <a:xfrm>
            <a:off x="5044976" y="4953000"/>
            <a:ext cx="1010741" cy="361950"/>
          </a:xfrm>
          <a:prstGeom prst="roundRect">
            <a:avLst>
              <a:gd name="adj" fmla="val 50000"/>
            </a:avLst>
          </a:prstGeom>
          <a:solidFill>
            <a:srgbClr val="E7DFCC"/>
          </a:solidFill>
          <a:ln/>
        </p:spPr>
        <p:txBody>
          <a:bodyPr/>
          <a:lstStyle/>
          <a:p>
            <a:endParaRPr lang="en-US"/>
          </a:p>
        </p:txBody>
      </p:sp>
      <p:sp>
        <p:nvSpPr>
          <p:cNvPr id="21" name="Text 19"/>
          <p:cNvSpPr/>
          <p:nvPr/>
        </p:nvSpPr>
        <p:spPr>
          <a:xfrm>
            <a:off x="5197376" y="5029200"/>
            <a:ext cx="756741"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Traditional</a:t>
            </a:r>
            <a:endParaRPr lang="en-US" sz="1200" dirty="0"/>
          </a:p>
        </p:txBody>
      </p:sp>
      <p:sp>
        <p:nvSpPr>
          <p:cNvPr id="22" name="Shape 20"/>
          <p:cNvSpPr/>
          <p:nvPr/>
        </p:nvSpPr>
        <p:spPr>
          <a:xfrm>
            <a:off x="6157317" y="4953000"/>
            <a:ext cx="2049959" cy="361950"/>
          </a:xfrm>
          <a:prstGeom prst="roundRect">
            <a:avLst>
              <a:gd name="adj" fmla="val 50000"/>
            </a:avLst>
          </a:prstGeom>
          <a:solidFill>
            <a:srgbClr val="E7DFCC"/>
          </a:solidFill>
          <a:ln/>
        </p:spPr>
        <p:txBody>
          <a:bodyPr/>
          <a:lstStyle/>
          <a:p>
            <a:endParaRPr lang="en-US"/>
          </a:p>
        </p:txBody>
      </p:sp>
      <p:sp>
        <p:nvSpPr>
          <p:cNvPr id="23" name="Text 21"/>
          <p:cNvSpPr/>
          <p:nvPr/>
        </p:nvSpPr>
        <p:spPr>
          <a:xfrm>
            <a:off x="6309717" y="5029200"/>
            <a:ext cx="179751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Processed-food-dominant</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METHODOLOGY</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Our four objectives</a:t>
            </a:r>
            <a:endParaRPr lang="en-US" sz="3200" dirty="0"/>
          </a:p>
        </p:txBody>
      </p:sp>
      <p:sp>
        <p:nvSpPr>
          <p:cNvPr id="4" name="Shape 2"/>
          <p:cNvSpPr/>
          <p:nvPr/>
        </p:nvSpPr>
        <p:spPr>
          <a:xfrm>
            <a:off x="815975" y="1876425"/>
            <a:ext cx="5175250" cy="1562100"/>
          </a:xfrm>
          <a:prstGeom prst="roundRect">
            <a:avLst>
              <a:gd name="adj" fmla="val 6301"/>
            </a:avLst>
          </a:prstGeom>
          <a:solidFill>
            <a:srgbClr val="FFFDF7"/>
          </a:solidFill>
          <a:ln w="6350">
            <a:solidFill>
              <a:srgbClr val="E0D8C6"/>
            </a:solidFill>
            <a:prstDash val="solid"/>
          </a:ln>
        </p:spPr>
        <p:txBody>
          <a:bodyPr/>
          <a:lstStyle/>
          <a:p>
            <a:endParaRPr lang="en-US"/>
          </a:p>
        </p:txBody>
      </p:sp>
      <p:sp>
        <p:nvSpPr>
          <p:cNvPr id="5" name="Text 3"/>
          <p:cNvSpPr/>
          <p:nvPr/>
        </p:nvSpPr>
        <p:spPr>
          <a:xfrm>
            <a:off x="1073150" y="2133600"/>
            <a:ext cx="4800727"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01</a:t>
            </a:r>
            <a:endParaRPr lang="en-US" sz="2200" dirty="0"/>
          </a:p>
        </p:txBody>
      </p:sp>
      <p:sp>
        <p:nvSpPr>
          <p:cNvPr id="6" name="Text 4"/>
          <p:cNvSpPr/>
          <p:nvPr/>
        </p:nvSpPr>
        <p:spPr>
          <a:xfrm>
            <a:off x="1073150" y="2622550"/>
            <a:ext cx="4800727"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24"/>
                </a:solidFill>
                <a:latin typeface="Arial" pitchFamily="34" charset="0"/>
                <a:ea typeface="Arial" pitchFamily="34" charset="-122"/>
                <a:cs typeface="Arial" pitchFamily="34" charset="-120"/>
              </a:rPr>
              <a:t>Assess the dietary patterns of participants using a technology-based food logging tool</a:t>
            </a:r>
            <a:endParaRPr lang="en-US" sz="1600" dirty="0"/>
          </a:p>
        </p:txBody>
      </p:sp>
      <p:sp>
        <p:nvSpPr>
          <p:cNvPr id="7" name="Shape 5"/>
          <p:cNvSpPr/>
          <p:nvPr/>
        </p:nvSpPr>
        <p:spPr>
          <a:xfrm>
            <a:off x="6200775" y="1876425"/>
            <a:ext cx="5175250" cy="1562100"/>
          </a:xfrm>
          <a:prstGeom prst="roundRect">
            <a:avLst>
              <a:gd name="adj" fmla="val 6301"/>
            </a:avLst>
          </a:prstGeom>
          <a:solidFill>
            <a:srgbClr val="FFFDF7"/>
          </a:solidFill>
          <a:ln w="6350">
            <a:solidFill>
              <a:srgbClr val="E0D8C6"/>
            </a:solidFill>
            <a:prstDash val="solid"/>
          </a:ln>
        </p:spPr>
        <p:txBody>
          <a:bodyPr/>
          <a:lstStyle/>
          <a:p>
            <a:endParaRPr lang="en-US"/>
          </a:p>
        </p:txBody>
      </p:sp>
      <p:sp>
        <p:nvSpPr>
          <p:cNvPr id="8" name="Text 6"/>
          <p:cNvSpPr/>
          <p:nvPr/>
        </p:nvSpPr>
        <p:spPr>
          <a:xfrm>
            <a:off x="6457950" y="2133600"/>
            <a:ext cx="4800727"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02</a:t>
            </a:r>
            <a:endParaRPr lang="en-US" sz="2200" dirty="0"/>
          </a:p>
        </p:txBody>
      </p:sp>
      <p:sp>
        <p:nvSpPr>
          <p:cNvPr id="9" name="Text 7"/>
          <p:cNvSpPr/>
          <p:nvPr/>
        </p:nvSpPr>
        <p:spPr>
          <a:xfrm>
            <a:off x="6457950" y="2622550"/>
            <a:ext cx="4800727"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24"/>
                </a:solidFill>
                <a:latin typeface="Arial" pitchFamily="34" charset="0"/>
                <a:ea typeface="Arial" pitchFamily="34" charset="-122"/>
                <a:cs typeface="Arial" pitchFamily="34" charset="-120"/>
              </a:rPr>
              <a:t>Analyse the frequency and variety of food groups consumed</a:t>
            </a:r>
            <a:endParaRPr lang="en-US" sz="1600" dirty="0"/>
          </a:p>
        </p:txBody>
      </p:sp>
      <p:sp>
        <p:nvSpPr>
          <p:cNvPr id="10" name="Shape 8"/>
          <p:cNvSpPr/>
          <p:nvPr/>
        </p:nvSpPr>
        <p:spPr>
          <a:xfrm>
            <a:off x="815975" y="3648075"/>
            <a:ext cx="5175250" cy="1562100"/>
          </a:xfrm>
          <a:prstGeom prst="roundRect">
            <a:avLst>
              <a:gd name="adj" fmla="val 6301"/>
            </a:avLst>
          </a:prstGeom>
          <a:solidFill>
            <a:srgbClr val="FFFDF7"/>
          </a:solidFill>
          <a:ln w="6350">
            <a:solidFill>
              <a:srgbClr val="E0D8C6"/>
            </a:solidFill>
            <a:prstDash val="solid"/>
          </a:ln>
        </p:spPr>
        <p:txBody>
          <a:bodyPr/>
          <a:lstStyle/>
          <a:p>
            <a:endParaRPr lang="en-US"/>
          </a:p>
        </p:txBody>
      </p:sp>
      <p:sp>
        <p:nvSpPr>
          <p:cNvPr id="11" name="Text 9"/>
          <p:cNvSpPr/>
          <p:nvPr/>
        </p:nvSpPr>
        <p:spPr>
          <a:xfrm>
            <a:off x="1073150" y="3905250"/>
            <a:ext cx="4800727"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03</a:t>
            </a:r>
            <a:endParaRPr lang="en-US" sz="2200" dirty="0"/>
          </a:p>
        </p:txBody>
      </p:sp>
      <p:sp>
        <p:nvSpPr>
          <p:cNvPr id="12" name="Text 10"/>
          <p:cNvSpPr/>
          <p:nvPr/>
        </p:nvSpPr>
        <p:spPr>
          <a:xfrm>
            <a:off x="1073150" y="4394200"/>
            <a:ext cx="4800727"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24"/>
                </a:solidFill>
                <a:latin typeface="Arial" pitchFamily="34" charset="0"/>
                <a:ea typeface="Arial" pitchFamily="34" charset="-122"/>
                <a:cs typeface="Arial" pitchFamily="34" charset="-120"/>
              </a:rPr>
              <a:t>Evaluate meal frequency, snack frequency, portion sizes, dietary diversity and meal timing</a:t>
            </a:r>
            <a:endParaRPr lang="en-US" sz="1600" dirty="0"/>
          </a:p>
        </p:txBody>
      </p:sp>
      <p:sp>
        <p:nvSpPr>
          <p:cNvPr id="13" name="Shape 11"/>
          <p:cNvSpPr/>
          <p:nvPr/>
        </p:nvSpPr>
        <p:spPr>
          <a:xfrm>
            <a:off x="6200775" y="3648075"/>
            <a:ext cx="5175250" cy="1562100"/>
          </a:xfrm>
          <a:prstGeom prst="roundRect">
            <a:avLst>
              <a:gd name="adj" fmla="val 6301"/>
            </a:avLst>
          </a:prstGeom>
          <a:solidFill>
            <a:srgbClr val="FFFDF7"/>
          </a:solidFill>
          <a:ln w="6350">
            <a:solidFill>
              <a:srgbClr val="E0D8C6"/>
            </a:solidFill>
            <a:prstDash val="solid"/>
          </a:ln>
        </p:spPr>
        <p:txBody>
          <a:bodyPr/>
          <a:lstStyle/>
          <a:p>
            <a:endParaRPr lang="en-US"/>
          </a:p>
        </p:txBody>
      </p:sp>
      <p:sp>
        <p:nvSpPr>
          <p:cNvPr id="14" name="Text 12"/>
          <p:cNvSpPr/>
          <p:nvPr/>
        </p:nvSpPr>
        <p:spPr>
          <a:xfrm>
            <a:off x="6457950" y="3905250"/>
            <a:ext cx="4800727"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04</a:t>
            </a:r>
            <a:endParaRPr lang="en-US" sz="2200" dirty="0"/>
          </a:p>
        </p:txBody>
      </p:sp>
      <p:sp>
        <p:nvSpPr>
          <p:cNvPr id="15" name="Text 13"/>
          <p:cNvSpPr/>
          <p:nvPr/>
        </p:nvSpPr>
        <p:spPr>
          <a:xfrm>
            <a:off x="6457950" y="4394200"/>
            <a:ext cx="4800727" cy="58420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F2A24"/>
                </a:solidFill>
                <a:latin typeface="Arial" pitchFamily="34" charset="0"/>
                <a:ea typeface="Arial" pitchFamily="34" charset="-122"/>
                <a:cs typeface="Arial" pitchFamily="34" charset="-120"/>
              </a:rPr>
              <a:t>Assess energy and macronutrient intake and identify nutritional strengths or gaps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STUDY DESIGN</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Two phases of data collection</a:t>
            </a:r>
            <a:endParaRPr lang="en-US" sz="3200" dirty="0"/>
          </a:p>
        </p:txBody>
      </p:sp>
      <p:sp>
        <p:nvSpPr>
          <p:cNvPr id="4" name="Shape 2"/>
          <p:cNvSpPr/>
          <p:nvPr/>
        </p:nvSpPr>
        <p:spPr>
          <a:xfrm>
            <a:off x="815975" y="1876425"/>
            <a:ext cx="5175250" cy="1612900"/>
          </a:xfrm>
          <a:prstGeom prst="roundRect">
            <a:avLst>
              <a:gd name="adj" fmla="val 6102"/>
            </a:avLst>
          </a:prstGeom>
          <a:solidFill>
            <a:srgbClr val="FFFDF7"/>
          </a:solidFill>
          <a:ln w="6350">
            <a:solidFill>
              <a:srgbClr val="E0D8C6"/>
            </a:solidFill>
            <a:prstDash val="solid"/>
          </a:ln>
        </p:spPr>
        <p:txBody>
          <a:bodyPr/>
          <a:lstStyle/>
          <a:p>
            <a:endParaRPr lang="en-US"/>
          </a:p>
        </p:txBody>
      </p:sp>
      <p:sp>
        <p:nvSpPr>
          <p:cNvPr id="5" name="Text 3"/>
          <p:cNvSpPr/>
          <p:nvPr/>
        </p:nvSpPr>
        <p:spPr>
          <a:xfrm>
            <a:off x="1073150" y="2168525"/>
            <a:ext cx="3393281"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Phase 1: User-needs survey</a:t>
            </a:r>
            <a:endParaRPr lang="en-US" sz="1600" dirty="0"/>
          </a:p>
        </p:txBody>
      </p:sp>
      <p:sp>
        <p:nvSpPr>
          <p:cNvPr id="6" name="Shape 4"/>
          <p:cNvSpPr/>
          <p:nvPr/>
        </p:nvSpPr>
        <p:spPr>
          <a:xfrm>
            <a:off x="4633516" y="2133600"/>
            <a:ext cx="1100534" cy="311150"/>
          </a:xfrm>
          <a:prstGeom prst="roundRect">
            <a:avLst>
              <a:gd name="adj" fmla="val 50000"/>
            </a:avLst>
          </a:prstGeom>
          <a:solidFill>
            <a:srgbClr val="DCEBE2"/>
          </a:solidFill>
          <a:ln/>
        </p:spPr>
        <p:txBody>
          <a:bodyPr/>
          <a:lstStyle/>
          <a:p>
            <a:endParaRPr lang="en-US"/>
          </a:p>
        </p:txBody>
      </p:sp>
      <p:sp>
        <p:nvSpPr>
          <p:cNvPr id="7" name="Text 5"/>
          <p:cNvSpPr/>
          <p:nvPr/>
        </p:nvSpPr>
        <p:spPr>
          <a:xfrm>
            <a:off x="4760516" y="2184400"/>
            <a:ext cx="897334"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Done (pilot)</a:t>
            </a:r>
            <a:endParaRPr lang="en-US" sz="1200" dirty="0"/>
          </a:p>
        </p:txBody>
      </p:sp>
      <p:sp>
        <p:nvSpPr>
          <p:cNvPr id="8" name="Text 6"/>
          <p:cNvSpPr/>
          <p:nvPr/>
        </p:nvSpPr>
        <p:spPr>
          <a:xfrm>
            <a:off x="1073150" y="2546350"/>
            <a:ext cx="4800727"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50"/>
                </a:solidFill>
                <a:latin typeface="Arial" pitchFamily="34" charset="0"/>
                <a:ea typeface="Arial" pitchFamily="34" charset="-122"/>
                <a:cs typeface="Arial" pitchFamily="34" charset="-120"/>
              </a:rPr>
              <a:t>Anonymous Google Form for adults 18+. 28 questions in six sections plus a consent screen, with branching for app users and never-users. 35 responses organised and analysed in Excel.</a:t>
            </a:r>
            <a:endParaRPr lang="en-US" sz="1200" dirty="0"/>
          </a:p>
        </p:txBody>
      </p:sp>
      <p:sp>
        <p:nvSpPr>
          <p:cNvPr id="9" name="Shape 7"/>
          <p:cNvSpPr/>
          <p:nvPr/>
        </p:nvSpPr>
        <p:spPr>
          <a:xfrm>
            <a:off x="6200775" y="1876425"/>
            <a:ext cx="5175250" cy="1612900"/>
          </a:xfrm>
          <a:prstGeom prst="roundRect">
            <a:avLst>
              <a:gd name="adj" fmla="val 6102"/>
            </a:avLst>
          </a:prstGeom>
          <a:solidFill>
            <a:srgbClr val="FFFDF7"/>
          </a:solidFill>
          <a:ln w="6350">
            <a:solidFill>
              <a:srgbClr val="E0D8C6"/>
            </a:solidFill>
            <a:prstDash val="solid"/>
          </a:ln>
        </p:spPr>
        <p:txBody>
          <a:bodyPr/>
          <a:lstStyle/>
          <a:p>
            <a:endParaRPr lang="en-US"/>
          </a:p>
        </p:txBody>
      </p:sp>
      <p:sp>
        <p:nvSpPr>
          <p:cNvPr id="10" name="Text 8"/>
          <p:cNvSpPr/>
          <p:nvPr/>
        </p:nvSpPr>
        <p:spPr>
          <a:xfrm>
            <a:off x="6457950" y="2168525"/>
            <a:ext cx="3463409"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Phase 2: Seven-day food log</a:t>
            </a:r>
            <a:endParaRPr lang="en-US" sz="1600" dirty="0"/>
          </a:p>
        </p:txBody>
      </p:sp>
      <p:sp>
        <p:nvSpPr>
          <p:cNvPr id="11" name="Shape 9"/>
          <p:cNvSpPr/>
          <p:nvPr/>
        </p:nvSpPr>
        <p:spPr>
          <a:xfrm>
            <a:off x="10272018" y="2133600"/>
            <a:ext cx="846832" cy="311150"/>
          </a:xfrm>
          <a:prstGeom prst="roundRect">
            <a:avLst>
              <a:gd name="adj" fmla="val 50000"/>
            </a:avLst>
          </a:prstGeom>
          <a:solidFill>
            <a:srgbClr val="F3E2C4"/>
          </a:solidFill>
          <a:ln/>
        </p:spPr>
        <p:txBody>
          <a:bodyPr/>
          <a:lstStyle/>
          <a:p>
            <a:endParaRPr lang="en-US"/>
          </a:p>
        </p:txBody>
      </p:sp>
      <p:sp>
        <p:nvSpPr>
          <p:cNvPr id="12" name="Text 10"/>
          <p:cNvSpPr/>
          <p:nvPr/>
        </p:nvSpPr>
        <p:spPr>
          <a:xfrm>
            <a:off x="10399018" y="2184400"/>
            <a:ext cx="643632"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3F08"/>
                </a:solidFill>
                <a:latin typeface="Arial" pitchFamily="34" charset="0"/>
                <a:ea typeface="Arial" pitchFamily="34" charset="-122"/>
                <a:cs typeface="Arial" pitchFamily="34" charset="-120"/>
              </a:rPr>
              <a:t>Planned</a:t>
            </a:r>
            <a:endParaRPr lang="en-US" sz="1200" dirty="0"/>
          </a:p>
        </p:txBody>
      </p:sp>
      <p:sp>
        <p:nvSpPr>
          <p:cNvPr id="13" name="Text 11"/>
          <p:cNvSpPr/>
          <p:nvPr/>
        </p:nvSpPr>
        <p:spPr>
          <a:xfrm>
            <a:off x="6457950" y="2546350"/>
            <a:ext cx="4800727"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4A5550"/>
                </a:solidFill>
                <a:latin typeface="Arial" pitchFamily="34" charset="0"/>
                <a:ea typeface="Arial" pitchFamily="34" charset="-122"/>
                <a:cs typeface="Arial" pitchFamily="34" charset="-120"/>
              </a:rPr>
              <a:t>Participants record every meal, snack and drink in the Syntropy app for 7 consecutive days, covering weekdays and a weekend, logging as close to eating as possible.</a:t>
            </a:r>
            <a:endParaRPr lang="en-US" sz="1200" dirty="0"/>
          </a:p>
        </p:txBody>
      </p:sp>
      <p:sp>
        <p:nvSpPr>
          <p:cNvPr id="14" name="Text 12"/>
          <p:cNvSpPr/>
          <p:nvPr/>
        </p:nvSpPr>
        <p:spPr>
          <a:xfrm>
            <a:off x="812800" y="37973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Analysis pipeline</a:t>
            </a:r>
            <a:endParaRPr lang="en-US" sz="1200" dirty="0"/>
          </a:p>
        </p:txBody>
      </p:sp>
      <p:sp>
        <p:nvSpPr>
          <p:cNvPr id="15" name="Shape 13"/>
          <p:cNvSpPr/>
          <p:nvPr/>
        </p:nvSpPr>
        <p:spPr>
          <a:xfrm>
            <a:off x="812800" y="4133850"/>
            <a:ext cx="1007467" cy="387350"/>
          </a:xfrm>
          <a:prstGeom prst="roundRect">
            <a:avLst>
              <a:gd name="adj" fmla="val 19672"/>
            </a:avLst>
          </a:prstGeom>
          <a:solidFill>
            <a:srgbClr val="1F3A2E"/>
          </a:solidFill>
          <a:ln/>
        </p:spPr>
        <p:txBody>
          <a:bodyPr/>
          <a:lstStyle/>
          <a:p>
            <a:endParaRPr lang="en-US"/>
          </a:p>
        </p:txBody>
      </p:sp>
      <p:sp>
        <p:nvSpPr>
          <p:cNvPr id="16" name="Text 14"/>
          <p:cNvSpPr/>
          <p:nvPr/>
        </p:nvSpPr>
        <p:spPr>
          <a:xfrm>
            <a:off x="952500" y="4222750"/>
            <a:ext cx="77886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7F4EC"/>
                </a:solidFill>
                <a:latin typeface="Arial" pitchFamily="34" charset="0"/>
                <a:ea typeface="Arial" pitchFamily="34" charset="-122"/>
                <a:cs typeface="Arial" pitchFamily="34" charset="-120"/>
              </a:rPr>
              <a:t>Food logs</a:t>
            </a:r>
            <a:endParaRPr lang="en-US" sz="1200" dirty="0"/>
          </a:p>
        </p:txBody>
      </p:sp>
      <p:sp>
        <p:nvSpPr>
          <p:cNvPr id="17" name="Text 15"/>
          <p:cNvSpPr/>
          <p:nvPr/>
        </p:nvSpPr>
        <p:spPr>
          <a:xfrm>
            <a:off x="1896467" y="4222750"/>
            <a:ext cx="2032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5701A"/>
                </a:solidFill>
                <a:latin typeface="Arial" pitchFamily="34" charset="0"/>
                <a:ea typeface="Arial" pitchFamily="34" charset="-122"/>
                <a:cs typeface="Arial" pitchFamily="34" charset="-120"/>
              </a:rPr>
              <a:t>→</a:t>
            </a:r>
            <a:endParaRPr lang="en-US" sz="1200" dirty="0"/>
          </a:p>
        </p:txBody>
      </p:sp>
      <p:sp>
        <p:nvSpPr>
          <p:cNvPr id="18" name="Shape 16"/>
          <p:cNvSpPr/>
          <p:nvPr/>
        </p:nvSpPr>
        <p:spPr>
          <a:xfrm>
            <a:off x="2125067" y="4133850"/>
            <a:ext cx="1050131" cy="387350"/>
          </a:xfrm>
          <a:prstGeom prst="roundRect">
            <a:avLst>
              <a:gd name="adj" fmla="val 19672"/>
            </a:avLst>
          </a:prstGeom>
          <a:solidFill>
            <a:srgbClr val="1F3A2E"/>
          </a:solidFill>
          <a:ln/>
        </p:spPr>
        <p:txBody>
          <a:bodyPr/>
          <a:lstStyle/>
          <a:p>
            <a:endParaRPr lang="en-US"/>
          </a:p>
        </p:txBody>
      </p:sp>
      <p:sp>
        <p:nvSpPr>
          <p:cNvPr id="19" name="Text 17"/>
          <p:cNvSpPr/>
          <p:nvPr/>
        </p:nvSpPr>
        <p:spPr>
          <a:xfrm>
            <a:off x="2264767" y="4222750"/>
            <a:ext cx="821531"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7F4EC"/>
                </a:solidFill>
                <a:latin typeface="Arial" pitchFamily="34" charset="0"/>
                <a:ea typeface="Arial" pitchFamily="34" charset="-122"/>
                <a:cs typeface="Arial" pitchFamily="34" charset="-120"/>
              </a:rPr>
              <a:t>Clean data</a:t>
            </a:r>
            <a:endParaRPr lang="en-US" sz="1200" dirty="0"/>
          </a:p>
        </p:txBody>
      </p:sp>
      <p:sp>
        <p:nvSpPr>
          <p:cNvPr id="20" name="Text 18"/>
          <p:cNvSpPr/>
          <p:nvPr/>
        </p:nvSpPr>
        <p:spPr>
          <a:xfrm>
            <a:off x="3251398" y="4222750"/>
            <a:ext cx="2032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5701A"/>
                </a:solidFill>
                <a:latin typeface="Arial" pitchFamily="34" charset="0"/>
                <a:ea typeface="Arial" pitchFamily="34" charset="-122"/>
                <a:cs typeface="Arial" pitchFamily="34" charset="-120"/>
              </a:rPr>
              <a:t>→</a:t>
            </a:r>
            <a:endParaRPr lang="en-US" sz="1200" dirty="0"/>
          </a:p>
        </p:txBody>
      </p:sp>
      <p:sp>
        <p:nvSpPr>
          <p:cNvPr id="21" name="Shape 19"/>
          <p:cNvSpPr/>
          <p:nvPr/>
        </p:nvSpPr>
        <p:spPr>
          <a:xfrm>
            <a:off x="3479998" y="4133850"/>
            <a:ext cx="1210568" cy="387350"/>
          </a:xfrm>
          <a:prstGeom prst="roundRect">
            <a:avLst>
              <a:gd name="adj" fmla="val 19672"/>
            </a:avLst>
          </a:prstGeom>
          <a:solidFill>
            <a:srgbClr val="1F3A2E"/>
          </a:solidFill>
          <a:ln/>
        </p:spPr>
        <p:txBody>
          <a:bodyPr/>
          <a:lstStyle/>
          <a:p>
            <a:endParaRPr lang="en-US"/>
          </a:p>
        </p:txBody>
      </p:sp>
      <p:sp>
        <p:nvSpPr>
          <p:cNvPr id="22" name="Text 20"/>
          <p:cNvSpPr/>
          <p:nvPr/>
        </p:nvSpPr>
        <p:spPr>
          <a:xfrm>
            <a:off x="3619698" y="4222750"/>
            <a:ext cx="981968"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7F4EC"/>
                </a:solidFill>
                <a:latin typeface="Arial" pitchFamily="34" charset="0"/>
                <a:ea typeface="Arial" pitchFamily="34" charset="-122"/>
                <a:cs typeface="Arial" pitchFamily="34" charset="-120"/>
              </a:rPr>
              <a:t>Food groups</a:t>
            </a:r>
            <a:endParaRPr lang="en-US" sz="1200" dirty="0"/>
          </a:p>
        </p:txBody>
      </p:sp>
      <p:sp>
        <p:nvSpPr>
          <p:cNvPr id="23" name="Text 21"/>
          <p:cNvSpPr/>
          <p:nvPr/>
        </p:nvSpPr>
        <p:spPr>
          <a:xfrm>
            <a:off x="4766766" y="4222750"/>
            <a:ext cx="2032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5701A"/>
                </a:solidFill>
                <a:latin typeface="Arial" pitchFamily="34" charset="0"/>
                <a:ea typeface="Arial" pitchFamily="34" charset="-122"/>
                <a:cs typeface="Arial" pitchFamily="34" charset="-120"/>
              </a:rPr>
              <a:t>→</a:t>
            </a:r>
            <a:endParaRPr lang="en-US" sz="1200" dirty="0"/>
          </a:p>
        </p:txBody>
      </p:sp>
      <p:sp>
        <p:nvSpPr>
          <p:cNvPr id="24" name="Shape 22"/>
          <p:cNvSpPr/>
          <p:nvPr/>
        </p:nvSpPr>
        <p:spPr>
          <a:xfrm>
            <a:off x="4995366" y="4133850"/>
            <a:ext cx="948333" cy="387350"/>
          </a:xfrm>
          <a:prstGeom prst="roundRect">
            <a:avLst>
              <a:gd name="adj" fmla="val 19672"/>
            </a:avLst>
          </a:prstGeom>
          <a:solidFill>
            <a:srgbClr val="1F3A2E"/>
          </a:solidFill>
          <a:ln/>
        </p:spPr>
        <p:txBody>
          <a:bodyPr/>
          <a:lstStyle/>
          <a:p>
            <a:endParaRPr lang="en-US"/>
          </a:p>
        </p:txBody>
      </p:sp>
      <p:sp>
        <p:nvSpPr>
          <p:cNvPr id="25" name="Text 23"/>
          <p:cNvSpPr/>
          <p:nvPr/>
        </p:nvSpPr>
        <p:spPr>
          <a:xfrm>
            <a:off x="5135066" y="4222750"/>
            <a:ext cx="719733"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7F4EC"/>
                </a:solidFill>
                <a:latin typeface="Arial" pitchFamily="34" charset="0"/>
                <a:ea typeface="Arial" pitchFamily="34" charset="-122"/>
                <a:cs typeface="Arial" pitchFamily="34" charset="-120"/>
              </a:rPr>
              <a:t>Nutrients</a:t>
            </a:r>
            <a:endParaRPr lang="en-US" sz="1200" dirty="0"/>
          </a:p>
        </p:txBody>
      </p:sp>
      <p:sp>
        <p:nvSpPr>
          <p:cNvPr id="26" name="Text 24"/>
          <p:cNvSpPr/>
          <p:nvPr/>
        </p:nvSpPr>
        <p:spPr>
          <a:xfrm>
            <a:off x="6019899" y="4222750"/>
            <a:ext cx="2032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5701A"/>
                </a:solidFill>
                <a:latin typeface="Arial" pitchFamily="34" charset="0"/>
                <a:ea typeface="Arial" pitchFamily="34" charset="-122"/>
                <a:cs typeface="Arial" pitchFamily="34" charset="-120"/>
              </a:rPr>
              <a:t>→</a:t>
            </a:r>
            <a:endParaRPr lang="en-US" sz="1200" dirty="0"/>
          </a:p>
        </p:txBody>
      </p:sp>
      <p:sp>
        <p:nvSpPr>
          <p:cNvPr id="27" name="Shape 25"/>
          <p:cNvSpPr/>
          <p:nvPr/>
        </p:nvSpPr>
        <p:spPr>
          <a:xfrm>
            <a:off x="6248499" y="4133850"/>
            <a:ext cx="889298" cy="387350"/>
          </a:xfrm>
          <a:prstGeom prst="roundRect">
            <a:avLst>
              <a:gd name="adj" fmla="val 19672"/>
            </a:avLst>
          </a:prstGeom>
          <a:solidFill>
            <a:srgbClr val="1F3A2E"/>
          </a:solidFill>
          <a:ln/>
        </p:spPr>
        <p:txBody>
          <a:bodyPr/>
          <a:lstStyle/>
          <a:p>
            <a:endParaRPr lang="en-US"/>
          </a:p>
        </p:txBody>
      </p:sp>
      <p:sp>
        <p:nvSpPr>
          <p:cNvPr id="28" name="Text 26"/>
          <p:cNvSpPr/>
          <p:nvPr/>
        </p:nvSpPr>
        <p:spPr>
          <a:xfrm>
            <a:off x="6388199" y="4222750"/>
            <a:ext cx="660698"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7F4EC"/>
                </a:solidFill>
                <a:latin typeface="Arial" pitchFamily="34" charset="0"/>
                <a:ea typeface="Arial" pitchFamily="34" charset="-122"/>
                <a:cs typeface="Arial" pitchFamily="34" charset="-120"/>
              </a:rPr>
              <a:t>Patterns</a:t>
            </a:r>
            <a:endParaRPr lang="en-US" sz="1200" dirty="0"/>
          </a:p>
        </p:txBody>
      </p:sp>
      <p:sp>
        <p:nvSpPr>
          <p:cNvPr id="29" name="Text 27"/>
          <p:cNvSpPr/>
          <p:nvPr/>
        </p:nvSpPr>
        <p:spPr>
          <a:xfrm>
            <a:off x="7213997" y="4222750"/>
            <a:ext cx="2032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5701A"/>
                </a:solidFill>
                <a:latin typeface="Arial" pitchFamily="34" charset="0"/>
                <a:ea typeface="Arial" pitchFamily="34" charset="-122"/>
                <a:cs typeface="Arial" pitchFamily="34" charset="-120"/>
              </a:rPr>
              <a:t>→</a:t>
            </a:r>
            <a:endParaRPr lang="en-US" sz="1200" dirty="0"/>
          </a:p>
        </p:txBody>
      </p:sp>
      <p:sp>
        <p:nvSpPr>
          <p:cNvPr id="30" name="Shape 28"/>
          <p:cNvSpPr/>
          <p:nvPr/>
        </p:nvSpPr>
        <p:spPr>
          <a:xfrm>
            <a:off x="7442597" y="4133850"/>
            <a:ext cx="957064" cy="387350"/>
          </a:xfrm>
          <a:prstGeom prst="roundRect">
            <a:avLst>
              <a:gd name="adj" fmla="val 19672"/>
            </a:avLst>
          </a:prstGeom>
          <a:solidFill>
            <a:srgbClr val="1F3A2E"/>
          </a:solidFill>
          <a:ln/>
        </p:spPr>
        <p:txBody>
          <a:bodyPr/>
          <a:lstStyle/>
          <a:p>
            <a:endParaRPr lang="en-US"/>
          </a:p>
        </p:txBody>
      </p:sp>
      <p:sp>
        <p:nvSpPr>
          <p:cNvPr id="31" name="Text 29"/>
          <p:cNvSpPr/>
          <p:nvPr/>
        </p:nvSpPr>
        <p:spPr>
          <a:xfrm>
            <a:off x="7582297" y="4222750"/>
            <a:ext cx="728464"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7F4EC"/>
                </a:solidFill>
                <a:latin typeface="Arial" pitchFamily="34" charset="0"/>
                <a:ea typeface="Arial" pitchFamily="34" charset="-122"/>
                <a:cs typeface="Arial" pitchFamily="34" charset="-120"/>
              </a:rPr>
              <a:t>Statistics</a:t>
            </a:r>
            <a:endParaRPr lang="en-US" sz="1200" dirty="0"/>
          </a:p>
        </p:txBody>
      </p:sp>
      <p:sp>
        <p:nvSpPr>
          <p:cNvPr id="32" name="Text 30"/>
          <p:cNvSpPr/>
          <p:nvPr/>
        </p:nvSpPr>
        <p:spPr>
          <a:xfrm>
            <a:off x="8475861" y="4222750"/>
            <a:ext cx="2032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5701A"/>
                </a:solidFill>
                <a:latin typeface="Arial" pitchFamily="34" charset="0"/>
                <a:ea typeface="Arial" pitchFamily="34" charset="-122"/>
                <a:cs typeface="Arial" pitchFamily="34" charset="-120"/>
              </a:rPr>
              <a:t>→</a:t>
            </a:r>
            <a:endParaRPr lang="en-US" sz="1200" dirty="0"/>
          </a:p>
        </p:txBody>
      </p:sp>
      <p:sp>
        <p:nvSpPr>
          <p:cNvPr id="33" name="Shape 31"/>
          <p:cNvSpPr/>
          <p:nvPr/>
        </p:nvSpPr>
        <p:spPr>
          <a:xfrm>
            <a:off x="8704461" y="4133850"/>
            <a:ext cx="1614686" cy="387350"/>
          </a:xfrm>
          <a:prstGeom prst="roundRect">
            <a:avLst>
              <a:gd name="adj" fmla="val 19672"/>
            </a:avLst>
          </a:prstGeom>
          <a:solidFill>
            <a:srgbClr val="1F3A2E"/>
          </a:solidFill>
          <a:ln/>
        </p:spPr>
        <p:txBody>
          <a:bodyPr/>
          <a:lstStyle/>
          <a:p>
            <a:endParaRPr lang="en-US"/>
          </a:p>
        </p:txBody>
      </p:sp>
      <p:sp>
        <p:nvSpPr>
          <p:cNvPr id="34" name="Text 32"/>
          <p:cNvSpPr/>
          <p:nvPr/>
        </p:nvSpPr>
        <p:spPr>
          <a:xfrm>
            <a:off x="8844161" y="4222750"/>
            <a:ext cx="1386086"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7F4EC"/>
                </a:solidFill>
                <a:latin typeface="Arial" pitchFamily="34" charset="0"/>
                <a:ea typeface="Arial" pitchFamily="34" charset="-122"/>
                <a:cs typeface="Arial" pitchFamily="34" charset="-120"/>
              </a:rPr>
              <a:t>Tables and graphs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7D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THE LOGGING TOOL</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Why we chose Syntropy</a:t>
            </a:r>
            <a:endParaRPr lang="en-US" sz="3200" dirty="0"/>
          </a:p>
        </p:txBody>
      </p:sp>
      <p:sp>
        <p:nvSpPr>
          <p:cNvPr id="4" name="Shape 2"/>
          <p:cNvSpPr/>
          <p:nvPr/>
        </p:nvSpPr>
        <p:spPr>
          <a:xfrm>
            <a:off x="815975" y="1825625"/>
            <a:ext cx="3414117" cy="1377950"/>
          </a:xfrm>
          <a:prstGeom prst="roundRect">
            <a:avLst>
              <a:gd name="adj" fmla="val 7143"/>
            </a:avLst>
          </a:prstGeom>
          <a:solidFill>
            <a:srgbClr val="FFFDF7"/>
          </a:solidFill>
          <a:ln w="6350">
            <a:solidFill>
              <a:srgbClr val="E0D8C6"/>
            </a:solidFill>
            <a:prstDash val="solid"/>
          </a:ln>
        </p:spPr>
        <p:txBody>
          <a:bodyPr/>
          <a:lstStyle/>
          <a:p>
            <a:endParaRPr lang="en-US"/>
          </a:p>
        </p:txBody>
      </p:sp>
      <p:sp>
        <p:nvSpPr>
          <p:cNvPr id="5" name="Text 3"/>
          <p:cNvSpPr/>
          <p:nvPr/>
        </p:nvSpPr>
        <p:spPr>
          <a:xfrm>
            <a:off x="1022350" y="2032000"/>
            <a:ext cx="309140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Photo logging</a:t>
            </a:r>
            <a:endParaRPr lang="en-US" sz="1600" dirty="0"/>
          </a:p>
        </p:txBody>
      </p:sp>
      <p:sp>
        <p:nvSpPr>
          <p:cNvPr id="6" name="Text 4"/>
          <p:cNvSpPr/>
          <p:nvPr/>
        </p:nvSpPr>
        <p:spPr>
          <a:xfrm>
            <a:off x="1022350" y="2349500"/>
            <a:ext cx="3091408" cy="6731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Snap a meal and Gemini Vision names each dish and estimates nutrition for the user to confirm.</a:t>
            </a:r>
            <a:endParaRPr lang="en-US" sz="1200" dirty="0"/>
          </a:p>
        </p:txBody>
      </p:sp>
      <p:sp>
        <p:nvSpPr>
          <p:cNvPr id="7" name="Shape 5"/>
          <p:cNvSpPr/>
          <p:nvPr/>
        </p:nvSpPr>
        <p:spPr>
          <a:xfrm>
            <a:off x="4388842" y="1825625"/>
            <a:ext cx="3414216" cy="1377950"/>
          </a:xfrm>
          <a:prstGeom prst="roundRect">
            <a:avLst>
              <a:gd name="adj" fmla="val 7143"/>
            </a:avLst>
          </a:prstGeom>
          <a:solidFill>
            <a:srgbClr val="FFFDF7"/>
          </a:solidFill>
          <a:ln w="6350">
            <a:solidFill>
              <a:srgbClr val="E0D8C6"/>
            </a:solidFill>
            <a:prstDash val="solid"/>
          </a:ln>
        </p:spPr>
        <p:txBody>
          <a:bodyPr/>
          <a:lstStyle/>
          <a:p>
            <a:endParaRPr lang="en-US"/>
          </a:p>
        </p:txBody>
      </p:sp>
      <p:sp>
        <p:nvSpPr>
          <p:cNvPr id="8" name="Text 6"/>
          <p:cNvSpPr/>
          <p:nvPr/>
        </p:nvSpPr>
        <p:spPr>
          <a:xfrm>
            <a:off x="4595217" y="2032000"/>
            <a:ext cx="3091510"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Indian food table</a:t>
            </a:r>
            <a:endParaRPr lang="en-US" sz="1600" dirty="0"/>
          </a:p>
        </p:txBody>
      </p:sp>
      <p:sp>
        <p:nvSpPr>
          <p:cNvPr id="9" name="Text 7"/>
          <p:cNvSpPr/>
          <p:nvPr/>
        </p:nvSpPr>
        <p:spPr>
          <a:xfrm>
            <a:off x="4595217" y="2349500"/>
            <a:ext cx="3091510"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180 Indian and everyday foods with values from INDB and ICMR-NIN IFCT 2017.</a:t>
            </a:r>
            <a:endParaRPr lang="en-US" sz="1200" dirty="0"/>
          </a:p>
        </p:txBody>
      </p:sp>
      <p:sp>
        <p:nvSpPr>
          <p:cNvPr id="10" name="Shape 8"/>
          <p:cNvSpPr/>
          <p:nvPr/>
        </p:nvSpPr>
        <p:spPr>
          <a:xfrm>
            <a:off x="7961809" y="1825625"/>
            <a:ext cx="3414117" cy="1377950"/>
          </a:xfrm>
          <a:prstGeom prst="roundRect">
            <a:avLst>
              <a:gd name="adj" fmla="val 7143"/>
            </a:avLst>
          </a:prstGeom>
          <a:solidFill>
            <a:srgbClr val="FFFDF7"/>
          </a:solidFill>
          <a:ln w="6350">
            <a:solidFill>
              <a:srgbClr val="E0D8C6"/>
            </a:solidFill>
            <a:prstDash val="solid"/>
          </a:ln>
        </p:spPr>
        <p:txBody>
          <a:bodyPr/>
          <a:lstStyle/>
          <a:p>
            <a:endParaRPr lang="en-US"/>
          </a:p>
        </p:txBody>
      </p:sp>
      <p:sp>
        <p:nvSpPr>
          <p:cNvPr id="11" name="Text 9"/>
          <p:cNvSpPr/>
          <p:nvPr/>
        </p:nvSpPr>
        <p:spPr>
          <a:xfrm>
            <a:off x="8168184" y="2032000"/>
            <a:ext cx="309140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Household units</a:t>
            </a:r>
            <a:endParaRPr lang="en-US" sz="1600" dirty="0"/>
          </a:p>
        </p:txBody>
      </p:sp>
      <p:sp>
        <p:nvSpPr>
          <p:cNvPr id="12" name="Text 10"/>
          <p:cNvSpPr/>
          <p:nvPr/>
        </p:nvSpPr>
        <p:spPr>
          <a:xfrm>
            <a:off x="8168184" y="2349500"/>
            <a:ext cx="3091408"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Katori (150 g), cup (150 ml), glass (250 ml), plate, bowl and spoon instead of grams.</a:t>
            </a:r>
            <a:endParaRPr lang="en-US" sz="1200" dirty="0"/>
          </a:p>
        </p:txBody>
      </p:sp>
      <p:sp>
        <p:nvSpPr>
          <p:cNvPr id="13" name="Shape 11"/>
          <p:cNvSpPr/>
          <p:nvPr/>
        </p:nvSpPr>
        <p:spPr>
          <a:xfrm>
            <a:off x="815975" y="3362325"/>
            <a:ext cx="3414117" cy="1162050"/>
          </a:xfrm>
          <a:prstGeom prst="roundRect">
            <a:avLst>
              <a:gd name="adj" fmla="val 8470"/>
            </a:avLst>
          </a:prstGeom>
          <a:solidFill>
            <a:srgbClr val="FFFDF7"/>
          </a:solidFill>
          <a:ln w="6350">
            <a:solidFill>
              <a:srgbClr val="E0D8C6"/>
            </a:solidFill>
            <a:prstDash val="solid"/>
          </a:ln>
        </p:spPr>
        <p:txBody>
          <a:bodyPr/>
          <a:lstStyle/>
          <a:p>
            <a:endParaRPr lang="en-US"/>
          </a:p>
        </p:txBody>
      </p:sp>
      <p:sp>
        <p:nvSpPr>
          <p:cNvPr id="14" name="Text 12"/>
          <p:cNvSpPr/>
          <p:nvPr/>
        </p:nvSpPr>
        <p:spPr>
          <a:xfrm>
            <a:off x="1022350" y="3568700"/>
            <a:ext cx="309140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Typed quick add</a:t>
            </a:r>
            <a:endParaRPr lang="en-US" sz="1600" dirty="0"/>
          </a:p>
        </p:txBody>
      </p:sp>
      <p:sp>
        <p:nvSpPr>
          <p:cNvPr id="15" name="Text 13"/>
          <p:cNvSpPr/>
          <p:nvPr/>
        </p:nvSpPr>
        <p:spPr>
          <a:xfrm>
            <a:off x="1022350" y="3886200"/>
            <a:ext cx="3091408"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Type “2 roti and dal” and it is split into foods and portions, online or offline.</a:t>
            </a:r>
            <a:endParaRPr lang="en-US" sz="1200" dirty="0"/>
          </a:p>
        </p:txBody>
      </p:sp>
      <p:sp>
        <p:nvSpPr>
          <p:cNvPr id="16" name="Shape 14"/>
          <p:cNvSpPr/>
          <p:nvPr/>
        </p:nvSpPr>
        <p:spPr>
          <a:xfrm>
            <a:off x="4388842" y="3362325"/>
            <a:ext cx="3414216" cy="1162050"/>
          </a:xfrm>
          <a:prstGeom prst="roundRect">
            <a:avLst>
              <a:gd name="adj" fmla="val 8470"/>
            </a:avLst>
          </a:prstGeom>
          <a:solidFill>
            <a:srgbClr val="FFFDF7"/>
          </a:solidFill>
          <a:ln w="6350">
            <a:solidFill>
              <a:srgbClr val="E0D8C6"/>
            </a:solidFill>
            <a:prstDash val="solid"/>
          </a:ln>
        </p:spPr>
        <p:txBody>
          <a:bodyPr/>
          <a:lstStyle/>
          <a:p>
            <a:endParaRPr lang="en-US"/>
          </a:p>
        </p:txBody>
      </p:sp>
      <p:sp>
        <p:nvSpPr>
          <p:cNvPr id="17" name="Text 15"/>
          <p:cNvSpPr/>
          <p:nvPr/>
        </p:nvSpPr>
        <p:spPr>
          <a:xfrm>
            <a:off x="4595217" y="3568700"/>
            <a:ext cx="3091510"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Personal targets</a:t>
            </a:r>
            <a:endParaRPr lang="en-US" sz="1600" dirty="0"/>
          </a:p>
        </p:txBody>
      </p:sp>
      <p:sp>
        <p:nvSpPr>
          <p:cNvPr id="18" name="Text 16"/>
          <p:cNvSpPr/>
          <p:nvPr/>
        </p:nvSpPr>
        <p:spPr>
          <a:xfrm>
            <a:off x="4595217" y="3886200"/>
            <a:ext cx="3091510"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Calorie and protein targets from the Mifflin-St Jeor equation, activity level and goal.</a:t>
            </a:r>
            <a:endParaRPr lang="en-US" sz="1200" dirty="0"/>
          </a:p>
        </p:txBody>
      </p:sp>
      <p:sp>
        <p:nvSpPr>
          <p:cNvPr id="19" name="Shape 17"/>
          <p:cNvSpPr/>
          <p:nvPr/>
        </p:nvSpPr>
        <p:spPr>
          <a:xfrm>
            <a:off x="7961809" y="3362325"/>
            <a:ext cx="3414117" cy="1162050"/>
          </a:xfrm>
          <a:prstGeom prst="roundRect">
            <a:avLst>
              <a:gd name="adj" fmla="val 8470"/>
            </a:avLst>
          </a:prstGeom>
          <a:solidFill>
            <a:srgbClr val="FFFDF7"/>
          </a:solidFill>
          <a:ln w="6350">
            <a:solidFill>
              <a:srgbClr val="E0D8C6"/>
            </a:solidFill>
            <a:prstDash val="solid"/>
          </a:ln>
        </p:spPr>
        <p:txBody>
          <a:bodyPr/>
          <a:lstStyle/>
          <a:p>
            <a:endParaRPr lang="en-US"/>
          </a:p>
        </p:txBody>
      </p:sp>
      <p:sp>
        <p:nvSpPr>
          <p:cNvPr id="20" name="Text 18"/>
          <p:cNvSpPr/>
          <p:nvPr/>
        </p:nvSpPr>
        <p:spPr>
          <a:xfrm>
            <a:off x="8168184" y="3568700"/>
            <a:ext cx="309140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Private and free</a:t>
            </a:r>
            <a:endParaRPr lang="en-US" sz="1600" dirty="0"/>
          </a:p>
        </p:txBody>
      </p:sp>
      <p:sp>
        <p:nvSpPr>
          <p:cNvPr id="21" name="Text 19"/>
          <p:cNvSpPr/>
          <p:nvPr/>
        </p:nvSpPr>
        <p:spPr>
          <a:xfrm>
            <a:off x="8168184" y="3886200"/>
            <a:ext cx="3091408"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No account, data stays on the phone, open source (AGPL-3.0) with no paid tier.</a:t>
            </a:r>
            <a:endParaRPr lang="en-US" sz="1200" dirty="0"/>
          </a:p>
        </p:txBody>
      </p:sp>
      <p:sp>
        <p:nvSpPr>
          <p:cNvPr id="22" name="Shape 20"/>
          <p:cNvSpPr/>
          <p:nvPr/>
        </p:nvSpPr>
        <p:spPr>
          <a:xfrm>
            <a:off x="812800" y="4781550"/>
            <a:ext cx="10566400" cy="685800"/>
          </a:xfrm>
          <a:prstGeom prst="rect">
            <a:avLst/>
          </a:prstGeom>
          <a:solidFill>
            <a:srgbClr val="F7F4EC"/>
          </a:solidFill>
          <a:ln/>
        </p:spPr>
        <p:txBody>
          <a:bodyPr/>
          <a:lstStyle/>
          <a:p>
            <a:endParaRPr lang="en-US"/>
          </a:p>
        </p:txBody>
      </p:sp>
      <p:sp>
        <p:nvSpPr>
          <p:cNvPr id="23" name="Shape 21"/>
          <p:cNvSpPr/>
          <p:nvPr/>
        </p:nvSpPr>
        <p:spPr>
          <a:xfrm>
            <a:off x="831850" y="4781550"/>
            <a:ext cx="0" cy="685800"/>
          </a:xfrm>
          <a:prstGeom prst="line">
            <a:avLst/>
          </a:prstGeom>
          <a:noFill/>
          <a:ln w="38100">
            <a:solidFill>
              <a:srgbClr val="B5701A"/>
            </a:solidFill>
            <a:prstDash val="solid"/>
          </a:ln>
        </p:spPr>
        <p:txBody>
          <a:bodyPr/>
          <a:lstStyle/>
          <a:p>
            <a:endParaRPr lang="en-US"/>
          </a:p>
        </p:txBody>
      </p:sp>
      <p:sp>
        <p:nvSpPr>
          <p:cNvPr id="24" name="Text 22"/>
          <p:cNvSpPr/>
          <p:nvPr/>
        </p:nvSpPr>
        <p:spPr>
          <a:xfrm>
            <a:off x="1028700" y="4908550"/>
            <a:ext cx="10477881" cy="45720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1F2A24"/>
                </a:solidFill>
                <a:latin typeface="Arial" pitchFamily="34" charset="0"/>
                <a:ea typeface="Arial" pitchFamily="34" charset="-122"/>
                <a:cs typeface="Arial" pitchFamily="34" charset="-120"/>
              </a:rPr>
              <a:t>Gaps we found in the code (v1.0.0):</a:t>
            </a:r>
            <a:r>
              <a:rPr lang="en-US" sz="1200" dirty="0">
                <a:solidFill>
                  <a:srgbClr val="1F2A24"/>
                </a:solidFill>
                <a:latin typeface="Arial" pitchFamily="34" charset="0"/>
                <a:ea typeface="Arial" pitchFamily="34" charset="-122"/>
                <a:cs typeface="Arial" pitchFamily="34" charset="-120"/>
              </a:rPr>
              <a:t> it tracks calories, protein, carbs and fat only, with no fibre or micronutrients, no meal reminders and no food-group or diversity tracking. AI features need the user’s own free Gemini key.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F3A2E"/>
        </a:solidFill>
        <a:effectLst/>
      </p:bgPr>
    </p:bg>
    <p:spTree>
      <p:nvGrpSpPr>
        <p:cNvPr id="1" name=""/>
        <p:cNvGrpSpPr/>
        <p:nvPr/>
      </p:nvGrpSpPr>
      <p:grpSpPr>
        <a:xfrm>
          <a:off x="0" y="0"/>
          <a:ext cx="0" cy="0"/>
          <a:chOff x="0" y="0"/>
          <a:chExt cx="0" cy="0"/>
        </a:xfrm>
      </p:grpSpPr>
      <p:sp>
        <p:nvSpPr>
          <p:cNvPr id="2" name="Text 0"/>
          <p:cNvSpPr/>
          <p:nvPr/>
        </p:nvSpPr>
        <p:spPr>
          <a:xfrm>
            <a:off x="812800" y="22606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A94A"/>
                </a:solidFill>
                <a:latin typeface="Arial" pitchFamily="34" charset="0"/>
                <a:ea typeface="Arial" pitchFamily="34" charset="-122"/>
                <a:cs typeface="Arial" pitchFamily="34" charset="-120"/>
              </a:rPr>
              <a:t>PART 2</a:t>
            </a:r>
            <a:endParaRPr lang="en-US" sz="1200" dirty="0"/>
          </a:p>
        </p:txBody>
      </p:sp>
      <p:sp>
        <p:nvSpPr>
          <p:cNvPr id="3" name="Text 1"/>
          <p:cNvSpPr>
            <a:spLocks noGrp="1"/>
          </p:cNvSpPr>
          <p:nvPr>
            <p:ph type="title"/>
          </p:nvPr>
        </p:nvSpPr>
        <p:spPr>
          <a:xfrm>
            <a:off x="812800" y="2774950"/>
            <a:ext cx="10883392" cy="69215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7F4EC"/>
                </a:solidFill>
                <a:latin typeface="Georgia" pitchFamily="18" charset="0"/>
                <a:ea typeface="Georgia" pitchFamily="18" charset="-122"/>
                <a:cs typeface="Georgia" pitchFamily="18" charset="-120"/>
              </a:rPr>
              <a:t>Survey and analysis</a:t>
            </a:r>
            <a:endParaRPr lang="en-US" sz="4800" dirty="0"/>
          </a:p>
        </p:txBody>
      </p:sp>
      <p:sp>
        <p:nvSpPr>
          <p:cNvPr id="4" name="Text 2"/>
          <p:cNvSpPr/>
          <p:nvPr/>
        </p:nvSpPr>
        <p:spPr>
          <a:xfrm>
            <a:off x="812800" y="3746500"/>
            <a:ext cx="10883392" cy="38735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8CF"/>
                </a:solidFill>
                <a:latin typeface="Arial" pitchFamily="34" charset="0"/>
                <a:ea typeface="Arial" pitchFamily="34" charset="-122"/>
                <a:cs typeface="Arial" pitchFamily="34" charset="-120"/>
              </a:rPr>
              <a:t>What kind of data have we collected?</a:t>
            </a:r>
            <a:endParaRPr lang="en-US" sz="2200" dirty="0"/>
          </a:p>
        </p:txBody>
      </p:sp>
      <p:sp>
        <p:nvSpPr>
          <p:cNvPr id="5" name="Text 3"/>
          <p:cNvSpPr/>
          <p:nvPr/>
        </p:nvSpPr>
        <p:spPr>
          <a:xfrm>
            <a:off x="812800" y="4235450"/>
            <a:ext cx="10883392" cy="38735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8CF"/>
                </a:solidFill>
                <a:latin typeface="Arial" pitchFamily="34" charset="0"/>
                <a:ea typeface="Arial" pitchFamily="34" charset="-122"/>
                <a:cs typeface="Arial" pitchFamily="34" charset="-120"/>
              </a:rPr>
              <a:t>How are we analysing and presenting it?</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DATA COLLECTED</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What kind of data have we collected?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5150"/>
          <a:ext cx="10553700" cy="2328067"/>
        </p:xfrm>
        <a:graphic>
          <a:graphicData uri="http://schemas.openxmlformats.org/drawingml/2006/table">
            <a:tbl>
              <a:tblPr/>
              <a:tblGrid>
                <a:gridCol w="2321814">
                  <a:extLst>
                    <a:ext uri="{9D8B030D-6E8A-4147-A177-3AD203B41FA5}">
                      <a16:colId xmlns:a16="http://schemas.microsoft.com/office/drawing/2014/main" val="20000"/>
                    </a:ext>
                  </a:extLst>
                </a:gridCol>
                <a:gridCol w="5487924">
                  <a:extLst>
                    <a:ext uri="{9D8B030D-6E8A-4147-A177-3AD203B41FA5}">
                      <a16:colId xmlns:a16="http://schemas.microsoft.com/office/drawing/2014/main" val="20001"/>
                    </a:ext>
                  </a:extLst>
                </a:gridCol>
                <a:gridCol w="2743962">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Section</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What it asks</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Type of data</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A · Demographics</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Age, gender, occupation, diet type, activity</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Nominal, ordinal</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B · Dietary habits</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Meals a day, meal source, food frequency, timing, perceived gaps</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Ordinal, Likert, multi-select</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C · Nutrition knowledge</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Difficulty with 7 tasks, info sources, confidence, portion units</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Ordinal, multi-select</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D · Existing apps</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App use, reasons, apps used, problems, stop reason, satisfaction</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Nominal, Likert (branched)</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E · Desired features</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Useful features, top three, photo comfort, 7-day log intent</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Multi-select, Likert</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F · Open feedback</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Biggest difficulty, app frustration, one improvement</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Free text (qualitative)</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6"/>
                  </a:ext>
                </a:extLst>
              </a:tr>
            </a:tbl>
          </a:graphicData>
        </a:graphic>
      </p:graphicFrame>
      <p:sp>
        <p:nvSpPr>
          <p:cNvPr id="5" name="Shape 2"/>
          <p:cNvSpPr/>
          <p:nvPr/>
        </p:nvSpPr>
        <p:spPr>
          <a:xfrm>
            <a:off x="815975" y="4420394"/>
            <a:ext cx="2667000" cy="1187450"/>
          </a:xfrm>
          <a:prstGeom prst="roundRect">
            <a:avLst>
              <a:gd name="adj" fmla="val 8289"/>
            </a:avLst>
          </a:prstGeom>
          <a:solidFill>
            <a:srgbClr val="FFFDF7"/>
          </a:solidFill>
          <a:ln w="6350">
            <a:solidFill>
              <a:srgbClr val="E0D8C6"/>
            </a:solidFill>
            <a:prstDash val="solid"/>
          </a:ln>
        </p:spPr>
        <p:txBody>
          <a:bodyPr/>
          <a:lstStyle/>
          <a:p>
            <a:endParaRPr lang="en-US"/>
          </a:p>
        </p:txBody>
      </p:sp>
      <p:sp>
        <p:nvSpPr>
          <p:cNvPr id="6" name="Text 3"/>
          <p:cNvSpPr/>
          <p:nvPr/>
        </p:nvSpPr>
        <p:spPr>
          <a:xfrm>
            <a:off x="1022350" y="4575969"/>
            <a:ext cx="2321877"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35</a:t>
            </a:r>
            <a:endParaRPr lang="en-US" sz="2200" dirty="0"/>
          </a:p>
        </p:txBody>
      </p:sp>
      <p:sp>
        <p:nvSpPr>
          <p:cNvPr id="7" name="Text 4"/>
          <p:cNvSpPr/>
          <p:nvPr/>
        </p:nvSpPr>
        <p:spPr>
          <a:xfrm>
            <a:off x="1022350" y="4988719"/>
            <a:ext cx="232187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respondents, all consented, 18+</a:t>
            </a:r>
            <a:endParaRPr lang="en-US" sz="1200" dirty="0"/>
          </a:p>
        </p:txBody>
      </p:sp>
      <p:sp>
        <p:nvSpPr>
          <p:cNvPr id="8" name="Shape 5"/>
          <p:cNvSpPr/>
          <p:nvPr/>
        </p:nvSpPr>
        <p:spPr>
          <a:xfrm>
            <a:off x="3641725" y="4420394"/>
            <a:ext cx="2667000" cy="1187450"/>
          </a:xfrm>
          <a:prstGeom prst="roundRect">
            <a:avLst>
              <a:gd name="adj" fmla="val 8289"/>
            </a:avLst>
          </a:prstGeom>
          <a:solidFill>
            <a:srgbClr val="FFFDF7"/>
          </a:solidFill>
          <a:ln w="6350">
            <a:solidFill>
              <a:srgbClr val="E0D8C6"/>
            </a:solidFill>
            <a:prstDash val="solid"/>
          </a:ln>
        </p:spPr>
        <p:txBody>
          <a:bodyPr/>
          <a:lstStyle/>
          <a:p>
            <a:endParaRPr lang="en-US"/>
          </a:p>
        </p:txBody>
      </p:sp>
      <p:sp>
        <p:nvSpPr>
          <p:cNvPr id="9" name="Text 6"/>
          <p:cNvSpPr/>
          <p:nvPr/>
        </p:nvSpPr>
        <p:spPr>
          <a:xfrm>
            <a:off x="3848100" y="4575969"/>
            <a:ext cx="2321877"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28</a:t>
            </a:r>
            <a:endParaRPr lang="en-US" sz="2200" dirty="0"/>
          </a:p>
        </p:txBody>
      </p:sp>
      <p:sp>
        <p:nvSpPr>
          <p:cNvPr id="10" name="Text 7"/>
          <p:cNvSpPr/>
          <p:nvPr/>
        </p:nvSpPr>
        <p:spPr>
          <a:xfrm>
            <a:off x="3848100" y="4988719"/>
            <a:ext cx="232187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questions plus a consent screen</a:t>
            </a:r>
            <a:endParaRPr lang="en-US" sz="1200" dirty="0"/>
          </a:p>
        </p:txBody>
      </p:sp>
      <p:sp>
        <p:nvSpPr>
          <p:cNvPr id="11" name="Shape 8"/>
          <p:cNvSpPr/>
          <p:nvPr/>
        </p:nvSpPr>
        <p:spPr>
          <a:xfrm>
            <a:off x="6464300" y="4417219"/>
            <a:ext cx="4914900" cy="1193800"/>
          </a:xfrm>
          <a:prstGeom prst="roundRect">
            <a:avLst>
              <a:gd name="adj" fmla="val 8511"/>
            </a:avLst>
          </a:prstGeom>
          <a:solidFill>
            <a:srgbClr val="F3E2C4"/>
          </a:solidFill>
          <a:ln/>
        </p:spPr>
        <p:txBody>
          <a:bodyPr/>
          <a:lstStyle/>
          <a:p>
            <a:endParaRPr lang="en-US"/>
          </a:p>
        </p:txBody>
      </p:sp>
      <p:sp>
        <p:nvSpPr>
          <p:cNvPr id="12" name="Text 9"/>
          <p:cNvSpPr/>
          <p:nvPr/>
        </p:nvSpPr>
        <p:spPr>
          <a:xfrm>
            <a:off x="6667500" y="4569619"/>
            <a:ext cx="4643755"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6B3F08"/>
                </a:solidFill>
                <a:latin typeface="Arial" pitchFamily="34" charset="0"/>
                <a:ea typeface="Arial" pitchFamily="34" charset="-122"/>
                <a:cs typeface="Arial" pitchFamily="34" charset="-120"/>
              </a:rPr>
              <a:t>Pilot dataset</a:t>
            </a:r>
            <a:endParaRPr lang="en-US" sz="1200" dirty="0"/>
          </a:p>
        </p:txBody>
      </p:sp>
      <p:sp>
        <p:nvSpPr>
          <p:cNvPr id="13" name="Text 10"/>
          <p:cNvSpPr/>
          <p:nvPr/>
        </p:nvSpPr>
        <p:spPr>
          <a:xfrm>
            <a:off x="6667500" y="4829969"/>
            <a:ext cx="4643755" cy="6540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2A10"/>
                </a:solidFill>
                <a:latin typeface="Arial" pitchFamily="34" charset="0"/>
                <a:ea typeface="Arial" pitchFamily="34" charset="-122"/>
                <a:cs typeface="Arial" pitchFamily="34" charset="-120"/>
              </a:rPr>
              <a:t>The 35 responses are to test the form and the analysis. They are self-reported habits and opinions; no food intake has been measured yet.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DATA COLLECTED</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Who the 35 respondents are</a:t>
            </a:r>
            <a:endParaRPr lang="en-US" sz="3200" dirty="0"/>
          </a:p>
        </p:txBody>
      </p:sp>
      <p:sp>
        <p:nvSpPr>
          <p:cNvPr id="4" name="Shape 2"/>
          <p:cNvSpPr/>
          <p:nvPr/>
        </p:nvSpPr>
        <p:spPr>
          <a:xfrm>
            <a:off x="815975" y="1825625"/>
            <a:ext cx="2520950" cy="2495550"/>
          </a:xfrm>
          <a:prstGeom prst="roundRect">
            <a:avLst>
              <a:gd name="adj" fmla="val 3944"/>
            </a:avLst>
          </a:prstGeom>
          <a:solidFill>
            <a:srgbClr val="FFFDF7"/>
          </a:solidFill>
          <a:ln w="6350">
            <a:solidFill>
              <a:srgbClr val="E0D8C6"/>
            </a:solidFill>
            <a:prstDash val="solid"/>
          </a:ln>
        </p:spPr>
        <p:txBody>
          <a:bodyPr/>
          <a:lstStyle/>
          <a:p>
            <a:endParaRPr lang="en-US"/>
          </a:p>
        </p:txBody>
      </p:sp>
      <p:sp>
        <p:nvSpPr>
          <p:cNvPr id="5" name="Text 3"/>
          <p:cNvSpPr/>
          <p:nvPr/>
        </p:nvSpPr>
        <p:spPr>
          <a:xfrm>
            <a:off x="1022350" y="2032000"/>
            <a:ext cx="2171446"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B5701A"/>
                </a:solidFill>
                <a:latin typeface="Georgia" pitchFamily="18" charset="0"/>
                <a:ea typeface="Georgia" pitchFamily="18" charset="-122"/>
                <a:cs typeface="Georgia" pitchFamily="18" charset="-120"/>
              </a:rPr>
              <a:t>21–23</a:t>
            </a:r>
            <a:endParaRPr lang="en-US" sz="3200" dirty="0"/>
          </a:p>
        </p:txBody>
      </p:sp>
      <p:sp>
        <p:nvSpPr>
          <p:cNvPr id="6" name="Text 4"/>
          <p:cNvSpPr/>
          <p:nvPr/>
        </p:nvSpPr>
        <p:spPr>
          <a:xfrm>
            <a:off x="1022350" y="2540000"/>
            <a:ext cx="2171446"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most common age group</a:t>
            </a:r>
            <a:endParaRPr lang="en-US" sz="1200" dirty="0"/>
          </a:p>
        </p:txBody>
      </p:sp>
      <p:sp>
        <p:nvSpPr>
          <p:cNvPr id="7" name="Text 5"/>
          <p:cNvSpPr/>
          <p:nvPr/>
        </p:nvSpPr>
        <p:spPr>
          <a:xfrm>
            <a:off x="1022350" y="2813050"/>
            <a:ext cx="50863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18–20</a:t>
            </a:r>
            <a:endParaRPr lang="en-US" sz="1200" dirty="0"/>
          </a:p>
        </p:txBody>
      </p:sp>
      <p:sp>
        <p:nvSpPr>
          <p:cNvPr id="8" name="Text 6"/>
          <p:cNvSpPr/>
          <p:nvPr/>
        </p:nvSpPr>
        <p:spPr>
          <a:xfrm>
            <a:off x="2994918" y="2813050"/>
            <a:ext cx="135632"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8</a:t>
            </a:r>
            <a:endParaRPr lang="en-US" sz="1200" dirty="0"/>
          </a:p>
        </p:txBody>
      </p:sp>
      <p:sp>
        <p:nvSpPr>
          <p:cNvPr id="9" name="Text 7"/>
          <p:cNvSpPr/>
          <p:nvPr/>
        </p:nvSpPr>
        <p:spPr>
          <a:xfrm>
            <a:off x="1022350" y="3086100"/>
            <a:ext cx="50863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21–23</a:t>
            </a:r>
            <a:endParaRPr lang="en-US" sz="1200" dirty="0"/>
          </a:p>
        </p:txBody>
      </p:sp>
      <p:sp>
        <p:nvSpPr>
          <p:cNvPr id="10" name="Text 8"/>
          <p:cNvSpPr/>
          <p:nvPr/>
        </p:nvSpPr>
        <p:spPr>
          <a:xfrm>
            <a:off x="2910185" y="3086100"/>
            <a:ext cx="220365"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12</a:t>
            </a:r>
            <a:endParaRPr lang="en-US" sz="1200" dirty="0"/>
          </a:p>
        </p:txBody>
      </p:sp>
      <p:sp>
        <p:nvSpPr>
          <p:cNvPr id="11" name="Text 9"/>
          <p:cNvSpPr/>
          <p:nvPr/>
        </p:nvSpPr>
        <p:spPr>
          <a:xfrm>
            <a:off x="1022350" y="3359150"/>
            <a:ext cx="50863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24–26</a:t>
            </a:r>
            <a:endParaRPr lang="en-US" sz="1200" dirty="0"/>
          </a:p>
        </p:txBody>
      </p:sp>
      <p:sp>
        <p:nvSpPr>
          <p:cNvPr id="12" name="Text 10"/>
          <p:cNvSpPr/>
          <p:nvPr/>
        </p:nvSpPr>
        <p:spPr>
          <a:xfrm>
            <a:off x="2994918" y="3359150"/>
            <a:ext cx="135632"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9</a:t>
            </a:r>
            <a:endParaRPr lang="en-US" sz="1200" dirty="0"/>
          </a:p>
        </p:txBody>
      </p:sp>
      <p:sp>
        <p:nvSpPr>
          <p:cNvPr id="13" name="Text 11"/>
          <p:cNvSpPr/>
          <p:nvPr/>
        </p:nvSpPr>
        <p:spPr>
          <a:xfrm>
            <a:off x="1022350" y="3632200"/>
            <a:ext cx="50863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27–30</a:t>
            </a:r>
            <a:endParaRPr lang="en-US" sz="1200" dirty="0"/>
          </a:p>
        </p:txBody>
      </p:sp>
      <p:sp>
        <p:nvSpPr>
          <p:cNvPr id="14" name="Text 12"/>
          <p:cNvSpPr/>
          <p:nvPr/>
        </p:nvSpPr>
        <p:spPr>
          <a:xfrm>
            <a:off x="2994918" y="3632200"/>
            <a:ext cx="135632"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4</a:t>
            </a:r>
            <a:endParaRPr lang="en-US" sz="1200" dirty="0"/>
          </a:p>
        </p:txBody>
      </p:sp>
      <p:sp>
        <p:nvSpPr>
          <p:cNvPr id="15" name="Text 13"/>
          <p:cNvSpPr/>
          <p:nvPr/>
        </p:nvSpPr>
        <p:spPr>
          <a:xfrm>
            <a:off x="1022350" y="3905250"/>
            <a:ext cx="110847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31 and above</a:t>
            </a:r>
            <a:endParaRPr lang="en-US" sz="1200" dirty="0"/>
          </a:p>
        </p:txBody>
      </p:sp>
      <p:sp>
        <p:nvSpPr>
          <p:cNvPr id="16" name="Text 14"/>
          <p:cNvSpPr/>
          <p:nvPr/>
        </p:nvSpPr>
        <p:spPr>
          <a:xfrm>
            <a:off x="2994918" y="3905250"/>
            <a:ext cx="135632"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2</a:t>
            </a:r>
            <a:endParaRPr lang="en-US" sz="1200" dirty="0"/>
          </a:p>
        </p:txBody>
      </p:sp>
      <p:sp>
        <p:nvSpPr>
          <p:cNvPr id="17" name="Shape 15"/>
          <p:cNvSpPr/>
          <p:nvPr/>
        </p:nvSpPr>
        <p:spPr>
          <a:xfrm>
            <a:off x="3495675" y="1825625"/>
            <a:ext cx="2520950" cy="2495550"/>
          </a:xfrm>
          <a:prstGeom prst="roundRect">
            <a:avLst>
              <a:gd name="adj" fmla="val 3944"/>
            </a:avLst>
          </a:prstGeom>
          <a:solidFill>
            <a:srgbClr val="FFFDF7"/>
          </a:solidFill>
          <a:ln w="6350">
            <a:solidFill>
              <a:srgbClr val="E0D8C6"/>
            </a:solidFill>
            <a:prstDash val="solid"/>
          </a:ln>
        </p:spPr>
        <p:txBody>
          <a:bodyPr/>
          <a:lstStyle/>
          <a:p>
            <a:endParaRPr lang="en-US"/>
          </a:p>
        </p:txBody>
      </p:sp>
      <p:sp>
        <p:nvSpPr>
          <p:cNvPr id="18" name="Text 16"/>
          <p:cNvSpPr/>
          <p:nvPr/>
        </p:nvSpPr>
        <p:spPr>
          <a:xfrm>
            <a:off x="3702050" y="2032000"/>
            <a:ext cx="2171446"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B5701A"/>
                </a:solidFill>
                <a:latin typeface="Georgia" pitchFamily="18" charset="0"/>
                <a:ea typeface="Georgia" pitchFamily="18" charset="-122"/>
                <a:cs typeface="Georgia" pitchFamily="18" charset="-120"/>
              </a:rPr>
              <a:t>49%</a:t>
            </a:r>
            <a:endParaRPr lang="en-US" sz="3200" dirty="0"/>
          </a:p>
        </p:txBody>
      </p:sp>
      <p:sp>
        <p:nvSpPr>
          <p:cNvPr id="19" name="Text 17"/>
          <p:cNvSpPr/>
          <p:nvPr/>
        </p:nvSpPr>
        <p:spPr>
          <a:xfrm>
            <a:off x="3702050" y="2540000"/>
            <a:ext cx="2171446"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female</a:t>
            </a:r>
            <a:endParaRPr lang="en-US" sz="1200" dirty="0"/>
          </a:p>
        </p:txBody>
      </p:sp>
      <p:sp>
        <p:nvSpPr>
          <p:cNvPr id="20" name="Text 18"/>
          <p:cNvSpPr/>
          <p:nvPr/>
        </p:nvSpPr>
        <p:spPr>
          <a:xfrm>
            <a:off x="3702050" y="2813050"/>
            <a:ext cx="60983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Female</a:t>
            </a:r>
            <a:endParaRPr lang="en-US" sz="1200" dirty="0"/>
          </a:p>
        </p:txBody>
      </p:sp>
      <p:sp>
        <p:nvSpPr>
          <p:cNvPr id="21" name="Text 19"/>
          <p:cNvSpPr/>
          <p:nvPr/>
        </p:nvSpPr>
        <p:spPr>
          <a:xfrm>
            <a:off x="5589885" y="2813050"/>
            <a:ext cx="220365"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17</a:t>
            </a:r>
            <a:endParaRPr lang="en-US" sz="1200" dirty="0"/>
          </a:p>
        </p:txBody>
      </p:sp>
      <p:sp>
        <p:nvSpPr>
          <p:cNvPr id="22" name="Text 20"/>
          <p:cNvSpPr/>
          <p:nvPr/>
        </p:nvSpPr>
        <p:spPr>
          <a:xfrm>
            <a:off x="3702050" y="3086100"/>
            <a:ext cx="39647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Male</a:t>
            </a:r>
            <a:endParaRPr lang="en-US" sz="1200" dirty="0"/>
          </a:p>
        </p:txBody>
      </p:sp>
      <p:sp>
        <p:nvSpPr>
          <p:cNvPr id="23" name="Text 21"/>
          <p:cNvSpPr/>
          <p:nvPr/>
        </p:nvSpPr>
        <p:spPr>
          <a:xfrm>
            <a:off x="5589885" y="3086100"/>
            <a:ext cx="220365"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16</a:t>
            </a:r>
            <a:endParaRPr lang="en-US" sz="1200" dirty="0"/>
          </a:p>
        </p:txBody>
      </p:sp>
      <p:sp>
        <p:nvSpPr>
          <p:cNvPr id="24" name="Text 22"/>
          <p:cNvSpPr/>
          <p:nvPr/>
        </p:nvSpPr>
        <p:spPr>
          <a:xfrm>
            <a:off x="3702050" y="3359150"/>
            <a:ext cx="1341834"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Prefer not to say</a:t>
            </a:r>
            <a:endParaRPr lang="en-US" sz="1200" dirty="0"/>
          </a:p>
        </p:txBody>
      </p:sp>
      <p:sp>
        <p:nvSpPr>
          <p:cNvPr id="25" name="Text 23"/>
          <p:cNvSpPr/>
          <p:nvPr/>
        </p:nvSpPr>
        <p:spPr>
          <a:xfrm>
            <a:off x="5674618" y="3359150"/>
            <a:ext cx="135632"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2</a:t>
            </a:r>
            <a:endParaRPr lang="en-US" sz="1200" dirty="0"/>
          </a:p>
        </p:txBody>
      </p:sp>
      <p:sp>
        <p:nvSpPr>
          <p:cNvPr id="26" name="Shape 24"/>
          <p:cNvSpPr/>
          <p:nvPr/>
        </p:nvSpPr>
        <p:spPr>
          <a:xfrm>
            <a:off x="6175375" y="1825625"/>
            <a:ext cx="2520950" cy="2495550"/>
          </a:xfrm>
          <a:prstGeom prst="roundRect">
            <a:avLst>
              <a:gd name="adj" fmla="val 3944"/>
            </a:avLst>
          </a:prstGeom>
          <a:solidFill>
            <a:srgbClr val="FFFDF7"/>
          </a:solidFill>
          <a:ln w="6350">
            <a:solidFill>
              <a:srgbClr val="E0D8C6"/>
            </a:solidFill>
            <a:prstDash val="solid"/>
          </a:ln>
        </p:spPr>
        <p:txBody>
          <a:bodyPr/>
          <a:lstStyle/>
          <a:p>
            <a:endParaRPr lang="en-US"/>
          </a:p>
        </p:txBody>
      </p:sp>
      <p:sp>
        <p:nvSpPr>
          <p:cNvPr id="27" name="Text 25"/>
          <p:cNvSpPr/>
          <p:nvPr/>
        </p:nvSpPr>
        <p:spPr>
          <a:xfrm>
            <a:off x="6381750" y="2032000"/>
            <a:ext cx="2171446"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B5701A"/>
                </a:solidFill>
                <a:latin typeface="Georgia" pitchFamily="18" charset="0"/>
                <a:ea typeface="Georgia" pitchFamily="18" charset="-122"/>
                <a:cs typeface="Georgia" pitchFamily="18" charset="-120"/>
              </a:rPr>
              <a:t>60%</a:t>
            </a:r>
            <a:endParaRPr lang="en-US" sz="3200" dirty="0"/>
          </a:p>
        </p:txBody>
      </p:sp>
      <p:sp>
        <p:nvSpPr>
          <p:cNvPr id="28" name="Text 26"/>
          <p:cNvSpPr/>
          <p:nvPr/>
        </p:nvSpPr>
        <p:spPr>
          <a:xfrm>
            <a:off x="6381750" y="2540000"/>
            <a:ext cx="2171446"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students (UG or PG)</a:t>
            </a:r>
            <a:endParaRPr lang="en-US" sz="1200" dirty="0"/>
          </a:p>
        </p:txBody>
      </p:sp>
      <p:sp>
        <p:nvSpPr>
          <p:cNvPr id="29" name="Text 27"/>
          <p:cNvSpPr/>
          <p:nvPr/>
        </p:nvSpPr>
        <p:spPr>
          <a:xfrm>
            <a:off x="6381750" y="2813050"/>
            <a:ext cx="122015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Undergraduate</a:t>
            </a:r>
            <a:endParaRPr lang="en-US" sz="1200" dirty="0"/>
          </a:p>
        </p:txBody>
      </p:sp>
      <p:sp>
        <p:nvSpPr>
          <p:cNvPr id="30" name="Text 28"/>
          <p:cNvSpPr/>
          <p:nvPr/>
        </p:nvSpPr>
        <p:spPr>
          <a:xfrm>
            <a:off x="8269585" y="2813050"/>
            <a:ext cx="220365"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16</a:t>
            </a:r>
            <a:endParaRPr lang="en-US" sz="1200" dirty="0"/>
          </a:p>
        </p:txBody>
      </p:sp>
      <p:sp>
        <p:nvSpPr>
          <p:cNvPr id="31" name="Text 29"/>
          <p:cNvSpPr/>
          <p:nvPr/>
        </p:nvSpPr>
        <p:spPr>
          <a:xfrm>
            <a:off x="6381750" y="3086100"/>
            <a:ext cx="108799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Postgraduate</a:t>
            </a:r>
            <a:endParaRPr lang="en-US" sz="1200" dirty="0"/>
          </a:p>
        </p:txBody>
      </p:sp>
      <p:sp>
        <p:nvSpPr>
          <p:cNvPr id="32" name="Text 30"/>
          <p:cNvSpPr/>
          <p:nvPr/>
        </p:nvSpPr>
        <p:spPr>
          <a:xfrm>
            <a:off x="8354318" y="3086100"/>
            <a:ext cx="135632"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5</a:t>
            </a:r>
            <a:endParaRPr lang="en-US" sz="1200" dirty="0"/>
          </a:p>
        </p:txBody>
      </p:sp>
      <p:sp>
        <p:nvSpPr>
          <p:cNvPr id="33" name="Text 31"/>
          <p:cNvSpPr/>
          <p:nvPr/>
        </p:nvSpPr>
        <p:spPr>
          <a:xfrm>
            <a:off x="6381750" y="3359150"/>
            <a:ext cx="667464"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Working</a:t>
            </a:r>
            <a:endParaRPr lang="en-US" sz="1200" dirty="0"/>
          </a:p>
        </p:txBody>
      </p:sp>
      <p:sp>
        <p:nvSpPr>
          <p:cNvPr id="34" name="Text 32"/>
          <p:cNvSpPr/>
          <p:nvPr/>
        </p:nvSpPr>
        <p:spPr>
          <a:xfrm>
            <a:off x="8269585" y="3359150"/>
            <a:ext cx="220365"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12</a:t>
            </a:r>
            <a:endParaRPr lang="en-US" sz="1200" dirty="0"/>
          </a:p>
        </p:txBody>
      </p:sp>
      <p:sp>
        <p:nvSpPr>
          <p:cNvPr id="35" name="Text 33"/>
          <p:cNvSpPr/>
          <p:nvPr/>
        </p:nvSpPr>
        <p:spPr>
          <a:xfrm>
            <a:off x="6381750" y="3632200"/>
            <a:ext cx="99595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Homemaker</a:t>
            </a:r>
            <a:endParaRPr lang="en-US" sz="1200" dirty="0"/>
          </a:p>
        </p:txBody>
      </p:sp>
      <p:sp>
        <p:nvSpPr>
          <p:cNvPr id="36" name="Text 34"/>
          <p:cNvSpPr/>
          <p:nvPr/>
        </p:nvSpPr>
        <p:spPr>
          <a:xfrm>
            <a:off x="8354318" y="3632200"/>
            <a:ext cx="135632"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a:t>
            </a:r>
            <a:endParaRPr lang="en-US" sz="1200" dirty="0"/>
          </a:p>
        </p:txBody>
      </p:sp>
      <p:sp>
        <p:nvSpPr>
          <p:cNvPr id="37" name="Text 35"/>
          <p:cNvSpPr/>
          <p:nvPr/>
        </p:nvSpPr>
        <p:spPr>
          <a:xfrm>
            <a:off x="6381750" y="3905250"/>
            <a:ext cx="116907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Self-employed</a:t>
            </a:r>
            <a:endParaRPr lang="en-US" sz="1200" dirty="0"/>
          </a:p>
        </p:txBody>
      </p:sp>
      <p:sp>
        <p:nvSpPr>
          <p:cNvPr id="38" name="Text 36"/>
          <p:cNvSpPr/>
          <p:nvPr/>
        </p:nvSpPr>
        <p:spPr>
          <a:xfrm>
            <a:off x="8354318" y="3905250"/>
            <a:ext cx="135632"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a:t>
            </a:r>
            <a:endParaRPr lang="en-US" sz="1200" dirty="0"/>
          </a:p>
        </p:txBody>
      </p:sp>
      <p:sp>
        <p:nvSpPr>
          <p:cNvPr id="39" name="Shape 37"/>
          <p:cNvSpPr/>
          <p:nvPr/>
        </p:nvSpPr>
        <p:spPr>
          <a:xfrm>
            <a:off x="8855075" y="1825625"/>
            <a:ext cx="2520950" cy="2495550"/>
          </a:xfrm>
          <a:prstGeom prst="roundRect">
            <a:avLst>
              <a:gd name="adj" fmla="val 3944"/>
            </a:avLst>
          </a:prstGeom>
          <a:solidFill>
            <a:srgbClr val="FFFDF7"/>
          </a:solidFill>
          <a:ln w="6350">
            <a:solidFill>
              <a:srgbClr val="E0D8C6"/>
            </a:solidFill>
            <a:prstDash val="solid"/>
          </a:ln>
        </p:spPr>
        <p:txBody>
          <a:bodyPr/>
          <a:lstStyle/>
          <a:p>
            <a:endParaRPr lang="en-US"/>
          </a:p>
        </p:txBody>
      </p:sp>
      <p:sp>
        <p:nvSpPr>
          <p:cNvPr id="40" name="Text 38"/>
          <p:cNvSpPr/>
          <p:nvPr/>
        </p:nvSpPr>
        <p:spPr>
          <a:xfrm>
            <a:off x="9061450" y="2032000"/>
            <a:ext cx="2171446"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B5701A"/>
                </a:solidFill>
                <a:latin typeface="Georgia" pitchFamily="18" charset="0"/>
                <a:ea typeface="Georgia" pitchFamily="18" charset="-122"/>
                <a:cs typeface="Georgia" pitchFamily="18" charset="-120"/>
              </a:rPr>
              <a:t>49%</a:t>
            </a:r>
            <a:endParaRPr lang="en-US" sz="3200" dirty="0"/>
          </a:p>
        </p:txBody>
      </p:sp>
      <p:sp>
        <p:nvSpPr>
          <p:cNvPr id="41" name="Text 39"/>
          <p:cNvSpPr/>
          <p:nvPr/>
        </p:nvSpPr>
        <p:spPr>
          <a:xfrm>
            <a:off x="9061450" y="2540000"/>
            <a:ext cx="2171446"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non-vegetarian</a:t>
            </a:r>
            <a:endParaRPr lang="en-US" sz="1200" dirty="0"/>
          </a:p>
        </p:txBody>
      </p:sp>
      <p:sp>
        <p:nvSpPr>
          <p:cNvPr id="42" name="Text 40"/>
          <p:cNvSpPr/>
          <p:nvPr/>
        </p:nvSpPr>
        <p:spPr>
          <a:xfrm>
            <a:off x="9061450" y="2813050"/>
            <a:ext cx="125051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Non-vegetarian</a:t>
            </a:r>
            <a:endParaRPr lang="en-US" sz="1200" dirty="0"/>
          </a:p>
        </p:txBody>
      </p:sp>
      <p:sp>
        <p:nvSpPr>
          <p:cNvPr id="43" name="Text 41"/>
          <p:cNvSpPr/>
          <p:nvPr/>
        </p:nvSpPr>
        <p:spPr>
          <a:xfrm>
            <a:off x="10949285" y="2813050"/>
            <a:ext cx="220365"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17</a:t>
            </a:r>
            <a:endParaRPr lang="en-US" sz="1200" dirty="0"/>
          </a:p>
        </p:txBody>
      </p:sp>
      <p:sp>
        <p:nvSpPr>
          <p:cNvPr id="44" name="Text 42"/>
          <p:cNvSpPr/>
          <p:nvPr/>
        </p:nvSpPr>
        <p:spPr>
          <a:xfrm>
            <a:off x="9061450" y="3086100"/>
            <a:ext cx="874514"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Vegetarian</a:t>
            </a:r>
            <a:endParaRPr lang="en-US" sz="1200" dirty="0"/>
          </a:p>
        </p:txBody>
      </p:sp>
      <p:sp>
        <p:nvSpPr>
          <p:cNvPr id="45" name="Text 43"/>
          <p:cNvSpPr/>
          <p:nvPr/>
        </p:nvSpPr>
        <p:spPr>
          <a:xfrm>
            <a:off x="10949285" y="3086100"/>
            <a:ext cx="220365"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13</a:t>
            </a:r>
            <a:endParaRPr lang="en-US" sz="1200" dirty="0"/>
          </a:p>
        </p:txBody>
      </p:sp>
      <p:sp>
        <p:nvSpPr>
          <p:cNvPr id="46" name="Text 44"/>
          <p:cNvSpPr/>
          <p:nvPr/>
        </p:nvSpPr>
        <p:spPr>
          <a:xfrm>
            <a:off x="9061450" y="3359150"/>
            <a:ext cx="884634"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Eggetarian</a:t>
            </a:r>
            <a:endParaRPr lang="en-US" sz="1200" dirty="0"/>
          </a:p>
        </p:txBody>
      </p:sp>
      <p:sp>
        <p:nvSpPr>
          <p:cNvPr id="47" name="Text 45"/>
          <p:cNvSpPr/>
          <p:nvPr/>
        </p:nvSpPr>
        <p:spPr>
          <a:xfrm>
            <a:off x="11034018" y="3359150"/>
            <a:ext cx="135632"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3</a:t>
            </a:r>
            <a:endParaRPr lang="en-US" sz="1200" dirty="0"/>
          </a:p>
        </p:txBody>
      </p:sp>
      <p:sp>
        <p:nvSpPr>
          <p:cNvPr id="48" name="Text 46"/>
          <p:cNvSpPr/>
          <p:nvPr/>
        </p:nvSpPr>
        <p:spPr>
          <a:xfrm>
            <a:off x="9061450" y="3632200"/>
            <a:ext cx="33551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Jain</a:t>
            </a:r>
            <a:endParaRPr lang="en-US" sz="1200" dirty="0"/>
          </a:p>
        </p:txBody>
      </p:sp>
      <p:sp>
        <p:nvSpPr>
          <p:cNvPr id="49" name="Text 47"/>
          <p:cNvSpPr/>
          <p:nvPr/>
        </p:nvSpPr>
        <p:spPr>
          <a:xfrm>
            <a:off x="11034018" y="3632200"/>
            <a:ext cx="135632"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a:t>
            </a:r>
            <a:endParaRPr lang="en-US" sz="1200" dirty="0"/>
          </a:p>
        </p:txBody>
      </p:sp>
      <p:sp>
        <p:nvSpPr>
          <p:cNvPr id="50" name="Text 48"/>
          <p:cNvSpPr/>
          <p:nvPr/>
        </p:nvSpPr>
        <p:spPr>
          <a:xfrm>
            <a:off x="9061450" y="3905250"/>
            <a:ext cx="51875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Vegan</a:t>
            </a:r>
            <a:endParaRPr lang="en-US" sz="1200" dirty="0"/>
          </a:p>
        </p:txBody>
      </p:sp>
      <p:sp>
        <p:nvSpPr>
          <p:cNvPr id="51" name="Text 49"/>
          <p:cNvSpPr/>
          <p:nvPr/>
        </p:nvSpPr>
        <p:spPr>
          <a:xfrm>
            <a:off x="11034018" y="3905250"/>
            <a:ext cx="135632"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a:t>
            </a:r>
            <a:endParaRPr lang="en-US" sz="1200" dirty="0"/>
          </a:p>
        </p:txBody>
      </p:sp>
      <p:sp>
        <p:nvSpPr>
          <p:cNvPr id="52" name="Text 50"/>
          <p:cNvSpPr/>
          <p:nvPr/>
        </p:nvSpPr>
        <p:spPr>
          <a:xfrm>
            <a:off x="812800" y="4578350"/>
            <a:ext cx="10883392" cy="45720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1F3A2E"/>
                </a:solidFill>
                <a:latin typeface="Arial" pitchFamily="34" charset="0"/>
                <a:ea typeface="Arial" pitchFamily="34" charset="-122"/>
                <a:cs typeface="Arial" pitchFamily="34" charset="-120"/>
              </a:rPr>
              <a:t>Activity:</a:t>
            </a:r>
            <a:r>
              <a:rPr lang="en-US" sz="1200" dirty="0">
                <a:solidFill>
                  <a:srgbClr val="4A5550"/>
                </a:solidFill>
                <a:latin typeface="Arial" pitchFamily="34" charset="0"/>
                <a:ea typeface="Arial" pitchFamily="34" charset="-122"/>
                <a:cs typeface="Arial" pitchFamily="34" charset="-120"/>
              </a:rPr>
              <a:t> 6 mostly sitting, 12 light activity 1–2 days, 11 exercise 3–4 days, 6 exercise 5+ days a week. </a:t>
            </a:r>
            <a:r>
              <a:rPr lang="en-US" sz="1200" b="1" dirty="0">
                <a:solidFill>
                  <a:srgbClr val="1F3A2E"/>
                </a:solidFill>
                <a:latin typeface="Arial" pitchFamily="34" charset="0"/>
                <a:ea typeface="Arial" pitchFamily="34" charset="-122"/>
                <a:cs typeface="Arial" pitchFamily="34" charset="-120"/>
              </a:rPr>
              <a:t>Meals mostly from:</a:t>
            </a:r>
            <a:r>
              <a:rPr lang="en-US" sz="1200" dirty="0">
                <a:solidFill>
                  <a:srgbClr val="4A5550"/>
                </a:solidFill>
                <a:latin typeface="Arial" pitchFamily="34" charset="0"/>
                <a:ea typeface="Arial" pitchFamily="34" charset="-122"/>
                <a:cs typeface="Arial" pitchFamily="34" charset="-120"/>
              </a:rPr>
              <a:t> home 18, hostel mess or tiffin 8, an equal mix 5, restaurants or delivery 4.</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ANALYSIS</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From raw answers to clean data</a:t>
            </a:r>
            <a:endParaRPr lang="en-US" sz="3200" dirty="0"/>
          </a:p>
        </p:txBody>
      </p:sp>
      <p:sp>
        <p:nvSpPr>
          <p:cNvPr id="4" name="Shape 2"/>
          <p:cNvSpPr/>
          <p:nvPr/>
        </p:nvSpPr>
        <p:spPr>
          <a:xfrm>
            <a:off x="815975" y="1825625"/>
            <a:ext cx="2520950" cy="2273300"/>
          </a:xfrm>
          <a:prstGeom prst="roundRect">
            <a:avLst>
              <a:gd name="adj" fmla="val 4330"/>
            </a:avLst>
          </a:prstGeom>
          <a:solidFill>
            <a:srgbClr val="FFFDF7"/>
          </a:solidFill>
          <a:ln w="6350">
            <a:solidFill>
              <a:srgbClr val="E0D8C6"/>
            </a:solidFill>
            <a:prstDash val="solid"/>
          </a:ln>
        </p:spPr>
        <p:txBody>
          <a:bodyPr/>
          <a:lstStyle/>
          <a:p>
            <a:endParaRPr lang="en-US"/>
          </a:p>
        </p:txBody>
      </p:sp>
      <p:sp>
        <p:nvSpPr>
          <p:cNvPr id="5" name="Text 3"/>
          <p:cNvSpPr/>
          <p:nvPr/>
        </p:nvSpPr>
        <p:spPr>
          <a:xfrm>
            <a:off x="1022350" y="2032000"/>
            <a:ext cx="2171446"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1</a:t>
            </a:r>
            <a:endParaRPr lang="en-US" sz="2200" dirty="0"/>
          </a:p>
        </p:txBody>
      </p:sp>
      <p:sp>
        <p:nvSpPr>
          <p:cNvPr id="6" name="Text 4"/>
          <p:cNvSpPr/>
          <p:nvPr/>
        </p:nvSpPr>
        <p:spPr>
          <a:xfrm>
            <a:off x="1022350" y="2495550"/>
            <a:ext cx="2171446"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Raw sheet</a:t>
            </a:r>
            <a:endParaRPr lang="en-US" sz="1600" dirty="0"/>
          </a:p>
        </p:txBody>
      </p:sp>
      <p:sp>
        <p:nvSpPr>
          <p:cNvPr id="7" name="Text 5"/>
          <p:cNvSpPr/>
          <p:nvPr/>
        </p:nvSpPr>
        <p:spPr>
          <a:xfrm>
            <a:off x="1022350" y="2813050"/>
            <a:ext cx="2171446" cy="8890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One row per person. Answers kept exactly as the form’s labels; multi-select answers joined with “; ”.</a:t>
            </a:r>
            <a:endParaRPr lang="en-US" sz="1200" dirty="0"/>
          </a:p>
        </p:txBody>
      </p:sp>
      <p:sp>
        <p:nvSpPr>
          <p:cNvPr id="8" name="Shape 6"/>
          <p:cNvSpPr/>
          <p:nvPr/>
        </p:nvSpPr>
        <p:spPr>
          <a:xfrm>
            <a:off x="3495675" y="1825625"/>
            <a:ext cx="2520950" cy="2273300"/>
          </a:xfrm>
          <a:prstGeom prst="roundRect">
            <a:avLst>
              <a:gd name="adj" fmla="val 4330"/>
            </a:avLst>
          </a:prstGeom>
          <a:solidFill>
            <a:srgbClr val="FFFDF7"/>
          </a:solidFill>
          <a:ln w="6350">
            <a:solidFill>
              <a:srgbClr val="E0D8C6"/>
            </a:solidFill>
            <a:prstDash val="solid"/>
          </a:ln>
        </p:spPr>
        <p:txBody>
          <a:bodyPr/>
          <a:lstStyle/>
          <a:p>
            <a:endParaRPr lang="en-US"/>
          </a:p>
        </p:txBody>
      </p:sp>
      <p:sp>
        <p:nvSpPr>
          <p:cNvPr id="9" name="Text 7"/>
          <p:cNvSpPr/>
          <p:nvPr/>
        </p:nvSpPr>
        <p:spPr>
          <a:xfrm>
            <a:off x="3702050" y="2032000"/>
            <a:ext cx="2171446"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2</a:t>
            </a:r>
            <a:endParaRPr lang="en-US" sz="2200" dirty="0"/>
          </a:p>
        </p:txBody>
      </p:sp>
      <p:sp>
        <p:nvSpPr>
          <p:cNvPr id="10" name="Text 8"/>
          <p:cNvSpPr/>
          <p:nvPr/>
        </p:nvSpPr>
        <p:spPr>
          <a:xfrm>
            <a:off x="3702050" y="2495550"/>
            <a:ext cx="2171446"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Coding</a:t>
            </a:r>
            <a:endParaRPr lang="en-US" sz="1600" dirty="0"/>
          </a:p>
        </p:txBody>
      </p:sp>
      <p:sp>
        <p:nvSpPr>
          <p:cNvPr id="11" name="Text 9"/>
          <p:cNvSpPr/>
          <p:nvPr/>
        </p:nvSpPr>
        <p:spPr>
          <a:xfrm>
            <a:off x="3702050" y="2813050"/>
            <a:ext cx="2171446" cy="11049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Frequencies coded Never = 0 to Every day = 4, agreement 1 to 5, and every multi-select option split into its own 0/1 column.</a:t>
            </a:r>
            <a:endParaRPr lang="en-US" sz="1200" dirty="0"/>
          </a:p>
        </p:txBody>
      </p:sp>
      <p:sp>
        <p:nvSpPr>
          <p:cNvPr id="12" name="Shape 10"/>
          <p:cNvSpPr/>
          <p:nvPr/>
        </p:nvSpPr>
        <p:spPr>
          <a:xfrm>
            <a:off x="6175375" y="1825625"/>
            <a:ext cx="2520950" cy="2273300"/>
          </a:xfrm>
          <a:prstGeom prst="roundRect">
            <a:avLst>
              <a:gd name="adj" fmla="val 4330"/>
            </a:avLst>
          </a:prstGeom>
          <a:solidFill>
            <a:srgbClr val="FFFDF7"/>
          </a:solidFill>
          <a:ln w="6350">
            <a:solidFill>
              <a:srgbClr val="E0D8C6"/>
            </a:solidFill>
            <a:prstDash val="solid"/>
          </a:ln>
        </p:spPr>
        <p:txBody>
          <a:bodyPr/>
          <a:lstStyle/>
          <a:p>
            <a:endParaRPr lang="en-US"/>
          </a:p>
        </p:txBody>
      </p:sp>
      <p:sp>
        <p:nvSpPr>
          <p:cNvPr id="13" name="Text 11"/>
          <p:cNvSpPr/>
          <p:nvPr/>
        </p:nvSpPr>
        <p:spPr>
          <a:xfrm>
            <a:off x="6381750" y="2032000"/>
            <a:ext cx="2171446"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3</a:t>
            </a:r>
            <a:endParaRPr lang="en-US" sz="2200" dirty="0"/>
          </a:p>
        </p:txBody>
      </p:sp>
      <p:sp>
        <p:nvSpPr>
          <p:cNvPr id="14" name="Text 12"/>
          <p:cNvSpPr/>
          <p:nvPr/>
        </p:nvSpPr>
        <p:spPr>
          <a:xfrm>
            <a:off x="6381750" y="2495550"/>
            <a:ext cx="2171446"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Missing values</a:t>
            </a:r>
            <a:endParaRPr lang="en-US" sz="1600" dirty="0"/>
          </a:p>
        </p:txBody>
      </p:sp>
      <p:sp>
        <p:nvSpPr>
          <p:cNvPr id="15" name="Text 13"/>
          <p:cNvSpPr/>
          <p:nvPr/>
        </p:nvSpPr>
        <p:spPr>
          <a:xfrm>
            <a:off x="6381750" y="2813050"/>
            <a:ext cx="2171446" cy="11049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“Not applicable” where branching skipped a question, “No response” for blank open text, “Not tried” kept as text so averages ignore it.</a:t>
            </a:r>
            <a:endParaRPr lang="en-US" sz="1200" dirty="0"/>
          </a:p>
        </p:txBody>
      </p:sp>
      <p:sp>
        <p:nvSpPr>
          <p:cNvPr id="16" name="Shape 14"/>
          <p:cNvSpPr/>
          <p:nvPr/>
        </p:nvSpPr>
        <p:spPr>
          <a:xfrm>
            <a:off x="8855075" y="1825625"/>
            <a:ext cx="2520950" cy="2273300"/>
          </a:xfrm>
          <a:prstGeom prst="roundRect">
            <a:avLst>
              <a:gd name="adj" fmla="val 4330"/>
            </a:avLst>
          </a:prstGeom>
          <a:solidFill>
            <a:srgbClr val="FFFDF7"/>
          </a:solidFill>
          <a:ln w="6350">
            <a:solidFill>
              <a:srgbClr val="E0D8C6"/>
            </a:solidFill>
            <a:prstDash val="solid"/>
          </a:ln>
        </p:spPr>
        <p:txBody>
          <a:bodyPr/>
          <a:lstStyle/>
          <a:p>
            <a:endParaRPr lang="en-US"/>
          </a:p>
        </p:txBody>
      </p:sp>
      <p:sp>
        <p:nvSpPr>
          <p:cNvPr id="17" name="Text 15"/>
          <p:cNvSpPr/>
          <p:nvPr/>
        </p:nvSpPr>
        <p:spPr>
          <a:xfrm>
            <a:off x="9061450" y="2032000"/>
            <a:ext cx="2171446"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4</a:t>
            </a:r>
            <a:endParaRPr lang="en-US" sz="2200" dirty="0"/>
          </a:p>
        </p:txBody>
      </p:sp>
      <p:sp>
        <p:nvSpPr>
          <p:cNvPr id="18" name="Text 16"/>
          <p:cNvSpPr/>
          <p:nvPr/>
        </p:nvSpPr>
        <p:spPr>
          <a:xfrm>
            <a:off x="9061450" y="2495550"/>
            <a:ext cx="2171446"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Validation</a:t>
            </a:r>
            <a:endParaRPr lang="en-US" sz="1600" dirty="0"/>
          </a:p>
        </p:txBody>
      </p:sp>
      <p:sp>
        <p:nvSpPr>
          <p:cNvPr id="19" name="Text 17"/>
          <p:cNvSpPr/>
          <p:nvPr/>
        </p:nvSpPr>
        <p:spPr>
          <a:xfrm>
            <a:off x="9061450" y="2813050"/>
            <a:ext cx="2171446" cy="11049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24 formula checks on IDs, duplicates, blanks, invalid options, branching and exclusive answers. </a:t>
            </a:r>
            <a:r>
              <a:rPr lang="en-US" sz="1200" b="1" dirty="0">
                <a:solidFill>
                  <a:srgbClr val="1F3A2E"/>
                </a:solidFill>
                <a:latin typeface="Arial" pitchFamily="34" charset="0"/>
                <a:ea typeface="Arial" pitchFamily="34" charset="-122"/>
                <a:cs typeface="Arial" pitchFamily="34" charset="-120"/>
              </a:rPr>
              <a:t>24 of 24 passed.</a:t>
            </a:r>
            <a:endParaRPr lang="en-US" sz="1200" dirty="0"/>
          </a:p>
        </p:txBody>
      </p:sp>
      <p:sp>
        <p:nvSpPr>
          <p:cNvPr id="20" name="Shape 18"/>
          <p:cNvSpPr/>
          <p:nvPr/>
        </p:nvSpPr>
        <p:spPr>
          <a:xfrm>
            <a:off x="812800" y="4356100"/>
            <a:ext cx="10566400" cy="685800"/>
          </a:xfrm>
          <a:prstGeom prst="roundRect">
            <a:avLst>
              <a:gd name="adj" fmla="val 11111"/>
            </a:avLst>
          </a:prstGeom>
          <a:solidFill>
            <a:srgbClr val="EDE7D9"/>
          </a:solidFill>
          <a:ln/>
        </p:spPr>
        <p:txBody>
          <a:bodyPr/>
          <a:lstStyle/>
          <a:p>
            <a:endParaRPr lang="en-US"/>
          </a:p>
        </p:txBody>
      </p:sp>
      <p:sp>
        <p:nvSpPr>
          <p:cNvPr id="21" name="Text 19"/>
          <p:cNvSpPr/>
          <p:nvPr/>
        </p:nvSpPr>
        <p:spPr>
          <a:xfrm>
            <a:off x="990600" y="4483100"/>
            <a:ext cx="10517124" cy="45720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1F2A24"/>
                </a:solidFill>
                <a:latin typeface="Arial" pitchFamily="34" charset="0"/>
                <a:ea typeface="Arial" pitchFamily="34" charset="-122"/>
                <a:cs typeface="Arial" pitchFamily="34" charset="-120"/>
              </a:rPr>
              <a:t>Derived by formula:</a:t>
            </a:r>
            <a:r>
              <a:rPr lang="en-US" sz="1200" dirty="0">
                <a:solidFill>
                  <a:srgbClr val="1F2A24"/>
                </a:solidFill>
                <a:latin typeface="Arial" pitchFamily="34" charset="0"/>
                <a:ea typeface="Arial" pitchFamily="34" charset="-122"/>
                <a:cs typeface="Arial" pitchFamily="34" charset="-120"/>
              </a:rPr>
              <a:t> student, app user, irregular meals, skips breakfast 3+ days, fibre or micronutrient concern, number of useful features, top-three count and top-three consistency. A data dictionary documents every one of the 117 variables.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ANALYSIS</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How are we analysing and presenting it?</a:t>
            </a:r>
            <a:endParaRPr lang="en-US" sz="3200" dirty="0"/>
          </a:p>
        </p:txBody>
      </p:sp>
      <p:sp>
        <p:nvSpPr>
          <p:cNvPr id="4" name="Text 2"/>
          <p:cNvSpPr/>
          <p:nvPr/>
        </p:nvSpPr>
        <p:spPr>
          <a:xfrm>
            <a:off x="812800" y="1822450"/>
            <a:ext cx="6401514"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Analysis: descriptive statistics</a:t>
            </a:r>
            <a:endParaRPr lang="en-US" sz="1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78050"/>
          <a:ext cx="6202362" cy="1995486"/>
        </p:xfrm>
        <a:graphic>
          <a:graphicData uri="http://schemas.openxmlformats.org/drawingml/2006/table">
            <a:tbl>
              <a:tblPr/>
              <a:tblGrid>
                <a:gridCol w="2232850">
                  <a:extLst>
                    <a:ext uri="{9D8B030D-6E8A-4147-A177-3AD203B41FA5}">
                      <a16:colId xmlns:a16="http://schemas.microsoft.com/office/drawing/2014/main" val="20000"/>
                    </a:ext>
                  </a:extLst>
                </a:gridCol>
                <a:gridCol w="3969512">
                  <a:extLst>
                    <a:ext uri="{9D8B030D-6E8A-4147-A177-3AD203B41FA5}">
                      <a16:colId xmlns:a16="http://schemas.microsoft.com/office/drawing/2014/main" val="20001"/>
                    </a:ext>
                  </a:extLst>
                </a:gridCol>
              </a:tblGrid>
              <a:tr h="332581">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Measure</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Example from our data</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Frequency and %</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13 of 35 (37%) skip breakfast on 3+ days</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Mean ± SD</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3.03 ± 0.57 main meals a day</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Median and range</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7-day logging intent: median 3, range 1 to 5</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Group comparison</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Food frequency by meal source; intent by app use</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Rule-based grouping</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Four dietary patterns from frequency answers</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5"/>
                  </a:ext>
                </a:extLst>
              </a:tr>
            </a:tbl>
          </a:graphicData>
        </a:graphic>
      </p:graphicFrame>
      <p:sp>
        <p:nvSpPr>
          <p:cNvPr id="6" name="Shape 3"/>
          <p:cNvSpPr/>
          <p:nvPr/>
        </p:nvSpPr>
        <p:spPr>
          <a:xfrm>
            <a:off x="7234238" y="1825625"/>
            <a:ext cx="4141788" cy="2344738"/>
          </a:xfrm>
          <a:prstGeom prst="roundRect">
            <a:avLst>
              <a:gd name="adj" fmla="val 4198"/>
            </a:avLst>
          </a:prstGeom>
          <a:solidFill>
            <a:srgbClr val="FFFDF7"/>
          </a:solidFill>
          <a:ln w="6350">
            <a:solidFill>
              <a:srgbClr val="E0D8C6"/>
            </a:solidFill>
            <a:prstDash val="solid"/>
          </a:ln>
        </p:spPr>
        <p:txBody>
          <a:bodyPr/>
          <a:lstStyle/>
          <a:p>
            <a:endParaRPr lang="en-US"/>
          </a:p>
        </p:txBody>
      </p:sp>
      <p:sp>
        <p:nvSpPr>
          <p:cNvPr id="7" name="Text 4"/>
          <p:cNvSpPr/>
          <p:nvPr/>
        </p:nvSpPr>
        <p:spPr>
          <a:xfrm>
            <a:off x="7440613" y="2032000"/>
            <a:ext cx="3840909"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Presentation</a:t>
            </a:r>
            <a:endParaRPr lang="en-US" sz="1600" dirty="0"/>
          </a:p>
        </p:txBody>
      </p:sp>
      <p:sp>
        <p:nvSpPr>
          <p:cNvPr id="8" name="Text 5"/>
          <p:cNvSpPr/>
          <p:nvPr/>
        </p:nvSpPr>
        <p:spPr>
          <a:xfrm>
            <a:off x="7552118" y="2374900"/>
            <a:ext cx="3721783" cy="1168400"/>
          </a:xfrm>
          <a:prstGeom prst="rect">
            <a:avLst/>
          </a:prstGeom>
          <a:noFill/>
          <a:ln/>
        </p:spPr>
        <p:txBody>
          <a:bodyPr wrap="square" lIns="0" tIns="0" rIns="0" bIns="0" rtlCol="0" anchor="t">
            <a:normAutofit/>
          </a:bodyPr>
          <a:lstStyle/>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Bar charts for frequencies, difficulties and feature demand</a:t>
            </a:r>
            <a:endParaRPr lang="en-US" sz="1200" dirty="0"/>
          </a:p>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Tables for group comparisons and objectives</a:t>
            </a:r>
            <a:endParaRPr lang="en-US" sz="1200" dirty="0"/>
          </a:p>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Big-number tiles for headline figures</a:t>
            </a:r>
            <a:endParaRPr lang="en-US" sz="1200" dirty="0"/>
          </a:p>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A problem-to-feature map linking needs to Syntropy</a:t>
            </a:r>
            <a:endParaRPr lang="en-US" sz="1200" dirty="0"/>
          </a:p>
        </p:txBody>
      </p:sp>
      <p:sp>
        <p:nvSpPr>
          <p:cNvPr id="9" name="Shape 6"/>
          <p:cNvSpPr/>
          <p:nvPr/>
        </p:nvSpPr>
        <p:spPr>
          <a:xfrm>
            <a:off x="812800" y="4427538"/>
            <a:ext cx="10566400" cy="685800"/>
          </a:xfrm>
          <a:prstGeom prst="roundRect">
            <a:avLst>
              <a:gd name="adj" fmla="val 11111"/>
            </a:avLst>
          </a:prstGeom>
          <a:solidFill>
            <a:srgbClr val="F3E2C4"/>
          </a:solidFill>
          <a:ln/>
        </p:spPr>
        <p:txBody>
          <a:bodyPr/>
          <a:lstStyle/>
          <a:p>
            <a:endParaRPr lang="en-US"/>
          </a:p>
        </p:txBody>
      </p:sp>
      <p:sp>
        <p:nvSpPr>
          <p:cNvPr id="10" name="Text 7"/>
          <p:cNvSpPr/>
          <p:nvPr/>
        </p:nvSpPr>
        <p:spPr>
          <a:xfrm>
            <a:off x="990600" y="4554538"/>
            <a:ext cx="10517124"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F2A24"/>
                </a:solidFill>
                <a:latin typeface="Arial" pitchFamily="34" charset="0"/>
                <a:ea typeface="Arial" pitchFamily="34" charset="-122"/>
                <a:cs typeface="Arial" pitchFamily="34" charset="-120"/>
              </a:rPr>
              <a:t>Every percentage states its base: all 35, the 20 app users, the 15 never-users, or the 32 who look up nutrition information. No significance tests: 35 responses cannot support them, so all comparisons are descriptive.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RESULTS · MEAL PATTERN</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Three meals a day, often not on time</a:t>
            </a:r>
            <a:endParaRPr lang="en-US" sz="3200" dirty="0"/>
          </a:p>
        </p:txBody>
      </p:sp>
      <p:sp>
        <p:nvSpPr>
          <p:cNvPr id="4" name="Shape 2"/>
          <p:cNvSpPr/>
          <p:nvPr/>
        </p:nvSpPr>
        <p:spPr>
          <a:xfrm>
            <a:off x="815975" y="1825625"/>
            <a:ext cx="2520950" cy="2006600"/>
          </a:xfrm>
          <a:prstGeom prst="roundRect">
            <a:avLst>
              <a:gd name="adj" fmla="val 4905"/>
            </a:avLst>
          </a:prstGeom>
          <a:solidFill>
            <a:srgbClr val="FFFDF7"/>
          </a:solidFill>
          <a:ln w="6350">
            <a:solidFill>
              <a:srgbClr val="E0D8C6"/>
            </a:solidFill>
            <a:prstDash val="solid"/>
          </a:ln>
        </p:spPr>
        <p:txBody>
          <a:bodyPr/>
          <a:lstStyle/>
          <a:p>
            <a:endParaRPr lang="en-US"/>
          </a:p>
        </p:txBody>
      </p:sp>
      <p:sp>
        <p:nvSpPr>
          <p:cNvPr id="5" name="Text 3"/>
          <p:cNvSpPr/>
          <p:nvPr/>
        </p:nvSpPr>
        <p:spPr>
          <a:xfrm>
            <a:off x="1022350" y="2032000"/>
            <a:ext cx="2171446" cy="52705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B5701A"/>
                </a:solidFill>
                <a:latin typeface="Georgia" pitchFamily="18" charset="0"/>
                <a:ea typeface="Georgia" pitchFamily="18" charset="-122"/>
                <a:cs typeface="Georgia" pitchFamily="18" charset="-120"/>
              </a:rPr>
              <a:t>3.03</a:t>
            </a:r>
            <a:endParaRPr lang="en-US" sz="3600" dirty="0"/>
          </a:p>
        </p:txBody>
      </p:sp>
      <p:sp>
        <p:nvSpPr>
          <p:cNvPr id="6" name="Text 4"/>
          <p:cNvSpPr/>
          <p:nvPr/>
        </p:nvSpPr>
        <p:spPr>
          <a:xfrm>
            <a:off x="1022350" y="2609850"/>
            <a:ext cx="2171446" cy="279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3A2E"/>
                </a:solidFill>
                <a:latin typeface="Arial" pitchFamily="34" charset="0"/>
                <a:ea typeface="Arial" pitchFamily="34" charset="-122"/>
                <a:cs typeface="Arial" pitchFamily="34" charset="-120"/>
              </a:rPr>
              <a:t>main meals a day</a:t>
            </a:r>
            <a:endParaRPr lang="en-US" sz="1600" dirty="0"/>
          </a:p>
        </p:txBody>
      </p:sp>
      <p:sp>
        <p:nvSpPr>
          <p:cNvPr id="7" name="Text 5"/>
          <p:cNvSpPr/>
          <p:nvPr/>
        </p:nvSpPr>
        <p:spPr>
          <a:xfrm>
            <a:off x="1022350" y="2940050"/>
            <a:ext cx="2171446"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SD 0.57, median 3, range 2 to 4. 24 of 35 eat three.</a:t>
            </a:r>
            <a:endParaRPr lang="en-US" sz="1200" dirty="0"/>
          </a:p>
        </p:txBody>
      </p:sp>
      <p:sp>
        <p:nvSpPr>
          <p:cNvPr id="8" name="Shape 6"/>
          <p:cNvSpPr/>
          <p:nvPr/>
        </p:nvSpPr>
        <p:spPr>
          <a:xfrm>
            <a:off x="3495675" y="1825625"/>
            <a:ext cx="2520950" cy="2006600"/>
          </a:xfrm>
          <a:prstGeom prst="roundRect">
            <a:avLst>
              <a:gd name="adj" fmla="val 4905"/>
            </a:avLst>
          </a:prstGeom>
          <a:solidFill>
            <a:srgbClr val="FFFDF7"/>
          </a:solidFill>
          <a:ln w="6350">
            <a:solidFill>
              <a:srgbClr val="E0D8C6"/>
            </a:solidFill>
            <a:prstDash val="solid"/>
          </a:ln>
        </p:spPr>
        <p:txBody>
          <a:bodyPr/>
          <a:lstStyle/>
          <a:p>
            <a:endParaRPr lang="en-US"/>
          </a:p>
        </p:txBody>
      </p:sp>
      <p:sp>
        <p:nvSpPr>
          <p:cNvPr id="9" name="Text 7"/>
          <p:cNvSpPr/>
          <p:nvPr/>
        </p:nvSpPr>
        <p:spPr>
          <a:xfrm>
            <a:off x="3702050" y="2032000"/>
            <a:ext cx="2171446" cy="52705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B5701A"/>
                </a:solidFill>
                <a:latin typeface="Georgia" pitchFamily="18" charset="0"/>
                <a:ea typeface="Georgia" pitchFamily="18" charset="-122"/>
                <a:cs typeface="Georgia" pitchFamily="18" charset="-120"/>
              </a:rPr>
              <a:t>37%</a:t>
            </a:r>
            <a:endParaRPr lang="en-US" sz="3600" dirty="0"/>
          </a:p>
        </p:txBody>
      </p:sp>
      <p:sp>
        <p:nvSpPr>
          <p:cNvPr id="10" name="Text 8"/>
          <p:cNvSpPr/>
          <p:nvPr/>
        </p:nvSpPr>
        <p:spPr>
          <a:xfrm>
            <a:off x="3702050" y="2609850"/>
            <a:ext cx="2171446"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3A2E"/>
                </a:solidFill>
                <a:latin typeface="Arial" pitchFamily="34" charset="0"/>
                <a:ea typeface="Arial" pitchFamily="34" charset="-122"/>
                <a:cs typeface="Arial" pitchFamily="34" charset="-120"/>
              </a:rPr>
              <a:t>skip breakfast on 3+ days a week</a:t>
            </a:r>
            <a:endParaRPr lang="en-US" sz="1600" dirty="0"/>
          </a:p>
        </p:txBody>
      </p:sp>
      <p:sp>
        <p:nvSpPr>
          <p:cNvPr id="11" name="Text 9"/>
          <p:cNvSpPr/>
          <p:nvPr/>
        </p:nvSpPr>
        <p:spPr>
          <a:xfrm>
            <a:off x="3702050" y="3194050"/>
            <a:ext cx="2171446"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13 of 35. Six skip it on 5 or more days.</a:t>
            </a:r>
            <a:endParaRPr lang="en-US" sz="1200" dirty="0"/>
          </a:p>
        </p:txBody>
      </p:sp>
      <p:sp>
        <p:nvSpPr>
          <p:cNvPr id="12" name="Shape 10"/>
          <p:cNvSpPr/>
          <p:nvPr/>
        </p:nvSpPr>
        <p:spPr>
          <a:xfrm>
            <a:off x="6175375" y="1825625"/>
            <a:ext cx="2520950" cy="2006600"/>
          </a:xfrm>
          <a:prstGeom prst="roundRect">
            <a:avLst>
              <a:gd name="adj" fmla="val 4905"/>
            </a:avLst>
          </a:prstGeom>
          <a:solidFill>
            <a:srgbClr val="FFFDF7"/>
          </a:solidFill>
          <a:ln w="6350">
            <a:solidFill>
              <a:srgbClr val="E0D8C6"/>
            </a:solidFill>
            <a:prstDash val="solid"/>
          </a:ln>
        </p:spPr>
        <p:txBody>
          <a:bodyPr/>
          <a:lstStyle/>
          <a:p>
            <a:endParaRPr lang="en-US"/>
          </a:p>
        </p:txBody>
      </p:sp>
      <p:sp>
        <p:nvSpPr>
          <p:cNvPr id="13" name="Text 11"/>
          <p:cNvSpPr/>
          <p:nvPr/>
        </p:nvSpPr>
        <p:spPr>
          <a:xfrm>
            <a:off x="6381750" y="2032000"/>
            <a:ext cx="2171446" cy="52705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B5701A"/>
                </a:solidFill>
                <a:latin typeface="Georgia" pitchFamily="18" charset="0"/>
                <a:ea typeface="Georgia" pitchFamily="18" charset="-122"/>
                <a:cs typeface="Georgia" pitchFamily="18" charset="-120"/>
              </a:rPr>
              <a:t>40%</a:t>
            </a:r>
            <a:endParaRPr lang="en-US" sz="3600" dirty="0"/>
          </a:p>
        </p:txBody>
      </p:sp>
      <p:sp>
        <p:nvSpPr>
          <p:cNvPr id="14" name="Text 12"/>
          <p:cNvSpPr/>
          <p:nvPr/>
        </p:nvSpPr>
        <p:spPr>
          <a:xfrm>
            <a:off x="6381750" y="2609850"/>
            <a:ext cx="2171446"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3A2E"/>
                </a:solidFill>
                <a:latin typeface="Arial" pitchFamily="34" charset="0"/>
                <a:ea typeface="Arial" pitchFamily="34" charset="-122"/>
                <a:cs typeface="Arial" pitchFamily="34" charset="-120"/>
              </a:rPr>
              <a:t>have irregular meal timings</a:t>
            </a:r>
            <a:endParaRPr lang="en-US" sz="1600" dirty="0"/>
          </a:p>
        </p:txBody>
      </p:sp>
      <p:sp>
        <p:nvSpPr>
          <p:cNvPr id="15" name="Text 13"/>
          <p:cNvSpPr/>
          <p:nvPr/>
        </p:nvSpPr>
        <p:spPr>
          <a:xfrm>
            <a:off x="6381750" y="3194050"/>
            <a:ext cx="2171446"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14 of 35 say somewhat or very irregular.</a:t>
            </a:r>
            <a:endParaRPr lang="en-US" sz="1200" dirty="0"/>
          </a:p>
        </p:txBody>
      </p:sp>
      <p:sp>
        <p:nvSpPr>
          <p:cNvPr id="16" name="Shape 14"/>
          <p:cNvSpPr/>
          <p:nvPr/>
        </p:nvSpPr>
        <p:spPr>
          <a:xfrm>
            <a:off x="8855075" y="1825625"/>
            <a:ext cx="2520950" cy="2006600"/>
          </a:xfrm>
          <a:prstGeom prst="roundRect">
            <a:avLst>
              <a:gd name="adj" fmla="val 4905"/>
            </a:avLst>
          </a:prstGeom>
          <a:solidFill>
            <a:srgbClr val="FFFDF7"/>
          </a:solidFill>
          <a:ln w="6350">
            <a:solidFill>
              <a:srgbClr val="E0D8C6"/>
            </a:solidFill>
            <a:prstDash val="solid"/>
          </a:ln>
        </p:spPr>
        <p:txBody>
          <a:bodyPr/>
          <a:lstStyle/>
          <a:p>
            <a:endParaRPr lang="en-US"/>
          </a:p>
        </p:txBody>
      </p:sp>
      <p:sp>
        <p:nvSpPr>
          <p:cNvPr id="17" name="Text 15"/>
          <p:cNvSpPr/>
          <p:nvPr/>
        </p:nvSpPr>
        <p:spPr>
          <a:xfrm>
            <a:off x="9061450" y="2032000"/>
            <a:ext cx="2171446" cy="527050"/>
          </a:xfrm>
          <a:prstGeom prst="rect">
            <a:avLst/>
          </a:prstGeom>
          <a:noFill/>
          <a:ln/>
        </p:spPr>
        <p:txBody>
          <a:bodyPr wrap="square" lIns="0" tIns="0" rIns="0" bIns="0" rtlCol="0" anchor="t">
            <a:normAutofit/>
          </a:bodyPr>
          <a:lstStyle/>
          <a:p>
            <a:pPr marL="0" indent="0" algn="l">
              <a:lnSpc>
                <a:spcPts val="3960"/>
              </a:lnSpc>
              <a:buNone/>
            </a:pPr>
            <a:r>
              <a:rPr lang="en-US" sz="3600" b="1" dirty="0">
                <a:solidFill>
                  <a:srgbClr val="B5701A"/>
                </a:solidFill>
                <a:latin typeface="Georgia" pitchFamily="18" charset="0"/>
                <a:ea typeface="Georgia" pitchFamily="18" charset="-122"/>
                <a:cs typeface="Georgia" pitchFamily="18" charset="-120"/>
              </a:rPr>
              <a:t>37%</a:t>
            </a:r>
            <a:endParaRPr lang="en-US" sz="3600" dirty="0"/>
          </a:p>
        </p:txBody>
      </p:sp>
      <p:sp>
        <p:nvSpPr>
          <p:cNvPr id="18" name="Text 16"/>
          <p:cNvSpPr/>
          <p:nvPr/>
        </p:nvSpPr>
        <p:spPr>
          <a:xfrm>
            <a:off x="9061450" y="2609850"/>
            <a:ext cx="2171446" cy="533400"/>
          </a:xfrm>
          <a:prstGeom prst="rect">
            <a:avLst/>
          </a:prstGeom>
          <a:noFill/>
          <a:ln/>
        </p:spPr>
        <p:txBody>
          <a:bodyPr wrap="square" lIns="0" tIns="0" rIns="0" bIns="0" rtlCol="0" anchor="t">
            <a:normAutofit/>
          </a:bodyPr>
          <a:lstStyle/>
          <a:p>
            <a:pPr marL="0" indent="0" algn="l">
              <a:lnSpc>
                <a:spcPts val="2000"/>
              </a:lnSpc>
              <a:buNone/>
            </a:pPr>
            <a:r>
              <a:rPr lang="en-US" sz="1600" b="1" dirty="0">
                <a:solidFill>
                  <a:srgbClr val="1F3A2E"/>
                </a:solidFill>
                <a:latin typeface="Arial" pitchFamily="34" charset="0"/>
                <a:ea typeface="Arial" pitchFamily="34" charset="-122"/>
                <a:cs typeface="Arial" pitchFamily="34" charset="-120"/>
              </a:rPr>
              <a:t>snack between meals 5+ days</a:t>
            </a:r>
            <a:endParaRPr lang="en-US" sz="1600" dirty="0"/>
          </a:p>
        </p:txBody>
      </p:sp>
      <p:sp>
        <p:nvSpPr>
          <p:cNvPr id="19" name="Text 17"/>
          <p:cNvSpPr/>
          <p:nvPr/>
        </p:nvSpPr>
        <p:spPr>
          <a:xfrm>
            <a:off x="9061450" y="3194050"/>
            <a:ext cx="2171446"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13 of 35. Three snack every day.</a:t>
            </a:r>
            <a:endParaRPr lang="en-US" sz="1200" dirty="0"/>
          </a:p>
        </p:txBody>
      </p:sp>
      <p:sp>
        <p:nvSpPr>
          <p:cNvPr id="20" name="Shape 18"/>
          <p:cNvSpPr/>
          <p:nvPr/>
        </p:nvSpPr>
        <p:spPr>
          <a:xfrm>
            <a:off x="812800" y="4089400"/>
            <a:ext cx="10566400" cy="685800"/>
          </a:xfrm>
          <a:prstGeom prst="roundRect">
            <a:avLst>
              <a:gd name="adj" fmla="val 11111"/>
            </a:avLst>
          </a:prstGeom>
          <a:solidFill>
            <a:srgbClr val="EDE7D9"/>
          </a:solidFill>
          <a:ln/>
        </p:spPr>
        <p:txBody>
          <a:bodyPr/>
          <a:lstStyle/>
          <a:p>
            <a:endParaRPr lang="en-US"/>
          </a:p>
        </p:txBody>
      </p:sp>
      <p:sp>
        <p:nvSpPr>
          <p:cNvPr id="21" name="Text 19"/>
          <p:cNvSpPr/>
          <p:nvPr/>
        </p:nvSpPr>
        <p:spPr>
          <a:xfrm>
            <a:off x="990600" y="4216400"/>
            <a:ext cx="10517124"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F2A24"/>
                </a:solidFill>
                <a:latin typeface="Arial" pitchFamily="34" charset="0"/>
                <a:ea typeface="Arial" pitchFamily="34" charset="-122"/>
                <a:cs typeface="Arial" pitchFamily="34" charset="-120"/>
              </a:rPr>
              <a:t>15 of 35 also skip lunch or dinner at least once a week. Skipping breakfast is far more common among mess and restaurant eaters (mean score 2.25 for both) than among home-cooked eaters (0.44), on a scale of 0 = never to 4 = every day.</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RESULTS · FOOD FREQUENCY</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Vegetables most days, fruit much less</a:t>
            </a:r>
            <a:endParaRPr lang="en-US" sz="3200" dirty="0"/>
          </a:p>
        </p:txBody>
      </p:sp>
      <p:sp>
        <p:nvSpPr>
          <p:cNvPr id="4" name="Text 2"/>
          <p:cNvSpPr/>
          <p:nvPr/>
        </p:nvSpPr>
        <p:spPr>
          <a:xfrm>
            <a:off x="812800" y="1822450"/>
            <a:ext cx="6792616"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Days per week, number of respondents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20900"/>
          <a:ext cx="6582073" cy="2328067"/>
        </p:xfrm>
        <a:graphic>
          <a:graphicData uri="http://schemas.openxmlformats.org/drawingml/2006/table">
            <a:tbl>
              <a:tblPr/>
              <a:tblGrid>
                <a:gridCol w="1842980">
                  <a:extLst>
                    <a:ext uri="{9D8B030D-6E8A-4147-A177-3AD203B41FA5}">
                      <a16:colId xmlns:a16="http://schemas.microsoft.com/office/drawing/2014/main" val="20000"/>
                    </a:ext>
                  </a:extLst>
                </a:gridCol>
                <a:gridCol w="724028">
                  <a:extLst>
                    <a:ext uri="{9D8B030D-6E8A-4147-A177-3AD203B41FA5}">
                      <a16:colId xmlns:a16="http://schemas.microsoft.com/office/drawing/2014/main" val="20001"/>
                    </a:ext>
                  </a:extLst>
                </a:gridCol>
                <a:gridCol w="724028">
                  <a:extLst>
                    <a:ext uri="{9D8B030D-6E8A-4147-A177-3AD203B41FA5}">
                      <a16:colId xmlns:a16="http://schemas.microsoft.com/office/drawing/2014/main" val="20002"/>
                    </a:ext>
                  </a:extLst>
                </a:gridCol>
                <a:gridCol w="724028">
                  <a:extLst>
                    <a:ext uri="{9D8B030D-6E8A-4147-A177-3AD203B41FA5}">
                      <a16:colId xmlns:a16="http://schemas.microsoft.com/office/drawing/2014/main" val="20003"/>
                    </a:ext>
                  </a:extLst>
                </a:gridCol>
                <a:gridCol w="724028">
                  <a:extLst>
                    <a:ext uri="{9D8B030D-6E8A-4147-A177-3AD203B41FA5}">
                      <a16:colId xmlns:a16="http://schemas.microsoft.com/office/drawing/2014/main" val="20004"/>
                    </a:ext>
                  </a:extLst>
                </a:gridCol>
                <a:gridCol w="789849">
                  <a:extLst>
                    <a:ext uri="{9D8B030D-6E8A-4147-A177-3AD203B41FA5}">
                      <a16:colId xmlns:a16="http://schemas.microsoft.com/office/drawing/2014/main" val="20005"/>
                    </a:ext>
                  </a:extLst>
                </a:gridCol>
                <a:gridCol w="1053132">
                  <a:extLst>
                    <a:ext uri="{9D8B030D-6E8A-4147-A177-3AD203B41FA5}">
                      <a16:colId xmlns:a16="http://schemas.microsoft.com/office/drawing/2014/main" val="20006"/>
                    </a:ext>
                  </a:extLst>
                </a:gridCol>
              </a:tblGrid>
              <a:tr h="332581">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Item</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Never</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3–4</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5–6</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Daily</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5+ days</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Vegetables</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15</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66%</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Snacks</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Fruit</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11</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29%</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Packaged food</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13</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23%</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Skip breakfast</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12</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7</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17%</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Skip lunch/dinner</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20</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10</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0</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6"/>
                  </a:ext>
                </a:extLst>
              </a:tr>
            </a:tbl>
          </a:graphicData>
        </a:graphic>
      </p:graphicFrame>
      <p:sp>
        <p:nvSpPr>
          <p:cNvPr id="6" name="Shape 3"/>
          <p:cNvSpPr/>
          <p:nvPr/>
        </p:nvSpPr>
        <p:spPr>
          <a:xfrm>
            <a:off x="7613948" y="1825625"/>
            <a:ext cx="3762077" cy="933450"/>
          </a:xfrm>
          <a:prstGeom prst="roundRect">
            <a:avLst>
              <a:gd name="adj" fmla="val 10544"/>
            </a:avLst>
          </a:prstGeom>
          <a:solidFill>
            <a:srgbClr val="FFFDF7"/>
          </a:solidFill>
          <a:ln w="6350">
            <a:solidFill>
              <a:srgbClr val="E0D8C6"/>
            </a:solidFill>
            <a:prstDash val="solid"/>
          </a:ln>
        </p:spPr>
        <p:txBody>
          <a:bodyPr/>
          <a:lstStyle/>
          <a:p>
            <a:endParaRPr lang="en-US"/>
          </a:p>
        </p:txBody>
      </p:sp>
      <p:sp>
        <p:nvSpPr>
          <p:cNvPr id="7" name="Text 4"/>
          <p:cNvSpPr/>
          <p:nvPr/>
        </p:nvSpPr>
        <p:spPr>
          <a:xfrm>
            <a:off x="7820323" y="1981200"/>
            <a:ext cx="3449807"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2F6B4F"/>
                </a:solidFill>
                <a:latin typeface="Georgia" pitchFamily="18" charset="0"/>
                <a:ea typeface="Georgia" pitchFamily="18" charset="-122"/>
                <a:cs typeface="Georgia" pitchFamily="18" charset="-120"/>
              </a:rPr>
              <a:t>66%</a:t>
            </a:r>
            <a:endParaRPr lang="en-US" sz="2200" dirty="0"/>
          </a:p>
        </p:txBody>
      </p:sp>
      <p:sp>
        <p:nvSpPr>
          <p:cNvPr id="8" name="Text 5"/>
          <p:cNvSpPr/>
          <p:nvPr/>
        </p:nvSpPr>
        <p:spPr>
          <a:xfrm>
            <a:off x="7820323" y="2393950"/>
            <a:ext cx="344980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eat vegetables or sabzi on 5+ days</a:t>
            </a:r>
            <a:endParaRPr lang="en-US" sz="1200" dirty="0"/>
          </a:p>
        </p:txBody>
      </p:sp>
      <p:sp>
        <p:nvSpPr>
          <p:cNvPr id="9" name="Shape 6"/>
          <p:cNvSpPr/>
          <p:nvPr/>
        </p:nvSpPr>
        <p:spPr>
          <a:xfrm>
            <a:off x="7613948" y="2867025"/>
            <a:ext cx="3762077" cy="933450"/>
          </a:xfrm>
          <a:prstGeom prst="roundRect">
            <a:avLst>
              <a:gd name="adj" fmla="val 10544"/>
            </a:avLst>
          </a:prstGeom>
          <a:solidFill>
            <a:srgbClr val="FFFDF7"/>
          </a:solidFill>
          <a:ln w="6350">
            <a:solidFill>
              <a:srgbClr val="E0D8C6"/>
            </a:solidFill>
            <a:prstDash val="solid"/>
          </a:ln>
        </p:spPr>
        <p:txBody>
          <a:bodyPr/>
          <a:lstStyle/>
          <a:p>
            <a:endParaRPr lang="en-US"/>
          </a:p>
        </p:txBody>
      </p:sp>
      <p:sp>
        <p:nvSpPr>
          <p:cNvPr id="10" name="Text 7"/>
          <p:cNvSpPr/>
          <p:nvPr/>
        </p:nvSpPr>
        <p:spPr>
          <a:xfrm>
            <a:off x="7820323" y="3022600"/>
            <a:ext cx="3449807"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34%</a:t>
            </a:r>
            <a:endParaRPr lang="en-US" sz="2200" dirty="0"/>
          </a:p>
        </p:txBody>
      </p:sp>
      <p:sp>
        <p:nvSpPr>
          <p:cNvPr id="11" name="Text 8"/>
          <p:cNvSpPr/>
          <p:nvPr/>
        </p:nvSpPr>
        <p:spPr>
          <a:xfrm>
            <a:off x="7820323" y="3435350"/>
            <a:ext cx="344980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eat fruit on 2 days or fewer (12 of 35)</a:t>
            </a:r>
            <a:endParaRPr lang="en-US" sz="1200" dirty="0"/>
          </a:p>
        </p:txBody>
      </p:sp>
      <p:sp>
        <p:nvSpPr>
          <p:cNvPr id="12" name="Shape 9"/>
          <p:cNvSpPr/>
          <p:nvPr/>
        </p:nvSpPr>
        <p:spPr>
          <a:xfrm>
            <a:off x="7613948" y="3908425"/>
            <a:ext cx="3762077" cy="933450"/>
          </a:xfrm>
          <a:prstGeom prst="roundRect">
            <a:avLst>
              <a:gd name="adj" fmla="val 10544"/>
            </a:avLst>
          </a:prstGeom>
          <a:solidFill>
            <a:srgbClr val="FFFDF7"/>
          </a:solidFill>
          <a:ln w="6350">
            <a:solidFill>
              <a:srgbClr val="E0D8C6"/>
            </a:solidFill>
            <a:prstDash val="solid"/>
          </a:ln>
        </p:spPr>
        <p:txBody>
          <a:bodyPr/>
          <a:lstStyle/>
          <a:p>
            <a:endParaRPr lang="en-US"/>
          </a:p>
        </p:txBody>
      </p:sp>
      <p:sp>
        <p:nvSpPr>
          <p:cNvPr id="13" name="Text 10"/>
          <p:cNvSpPr/>
          <p:nvPr/>
        </p:nvSpPr>
        <p:spPr>
          <a:xfrm>
            <a:off x="7820323" y="4064000"/>
            <a:ext cx="3449807"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51%</a:t>
            </a:r>
            <a:endParaRPr lang="en-US" sz="2200" dirty="0"/>
          </a:p>
        </p:txBody>
      </p:sp>
      <p:sp>
        <p:nvSpPr>
          <p:cNvPr id="14" name="Text 11"/>
          <p:cNvSpPr/>
          <p:nvPr/>
        </p:nvSpPr>
        <p:spPr>
          <a:xfrm>
            <a:off x="7820323" y="4476750"/>
            <a:ext cx="344980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eat packaged food on 3+ days (18 of 35)</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RESULTS · GROUP COMPARISON</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Where meals come from matters</a:t>
            </a:r>
            <a:endParaRPr lang="en-US" sz="3200" dirty="0"/>
          </a:p>
        </p:txBody>
      </p:sp>
      <p:sp>
        <p:nvSpPr>
          <p:cNvPr id="4" name="Text 2"/>
          <p:cNvSpPr/>
          <p:nvPr/>
        </p:nvSpPr>
        <p:spPr>
          <a:xfrm>
            <a:off x="812800" y="182245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Mean frequency score: 0 = never, 1 = 1–2 days, 2 = 3–4 days, 3 = 5–6 days, 4 = every day</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2120900"/>
          <a:ext cx="10553700" cy="1662905"/>
        </p:xfrm>
        <a:graphic>
          <a:graphicData uri="http://schemas.openxmlformats.org/drawingml/2006/table">
            <a:tbl>
              <a:tblPr/>
              <a:tblGrid>
                <a:gridCol w="3166110">
                  <a:extLst>
                    <a:ext uri="{9D8B030D-6E8A-4147-A177-3AD203B41FA5}">
                      <a16:colId xmlns:a16="http://schemas.microsoft.com/office/drawing/2014/main" val="20000"/>
                    </a:ext>
                  </a:extLst>
                </a:gridCol>
                <a:gridCol w="633222">
                  <a:extLst>
                    <a:ext uri="{9D8B030D-6E8A-4147-A177-3AD203B41FA5}">
                      <a16:colId xmlns:a16="http://schemas.microsoft.com/office/drawing/2014/main" val="20001"/>
                    </a:ext>
                  </a:extLst>
                </a:gridCol>
                <a:gridCol w="1266444">
                  <a:extLst>
                    <a:ext uri="{9D8B030D-6E8A-4147-A177-3AD203B41FA5}">
                      <a16:colId xmlns:a16="http://schemas.microsoft.com/office/drawing/2014/main" val="20002"/>
                    </a:ext>
                  </a:extLst>
                </a:gridCol>
                <a:gridCol w="1371981">
                  <a:extLst>
                    <a:ext uri="{9D8B030D-6E8A-4147-A177-3AD203B41FA5}">
                      <a16:colId xmlns:a16="http://schemas.microsoft.com/office/drawing/2014/main" val="20003"/>
                    </a:ext>
                  </a:extLst>
                </a:gridCol>
                <a:gridCol w="1371981">
                  <a:extLst>
                    <a:ext uri="{9D8B030D-6E8A-4147-A177-3AD203B41FA5}">
                      <a16:colId xmlns:a16="http://schemas.microsoft.com/office/drawing/2014/main" val="20004"/>
                    </a:ext>
                  </a:extLst>
                </a:gridCol>
                <a:gridCol w="1371981">
                  <a:extLst>
                    <a:ext uri="{9D8B030D-6E8A-4147-A177-3AD203B41FA5}">
                      <a16:colId xmlns:a16="http://schemas.microsoft.com/office/drawing/2014/main" val="20005"/>
                    </a:ext>
                  </a:extLst>
                </a:gridCol>
                <a:gridCol w="1371981">
                  <a:extLst>
                    <a:ext uri="{9D8B030D-6E8A-4147-A177-3AD203B41FA5}">
                      <a16:colId xmlns:a16="http://schemas.microsoft.com/office/drawing/2014/main" val="20006"/>
                    </a:ext>
                  </a:extLst>
                </a:gridCol>
              </a:tblGrid>
              <a:tr h="332581">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Main meal source</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n</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Fruit</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Vegetables</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Packaged</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Snacks</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No breakfast</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Home-cooked</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18</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2.44</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3.39</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0.94</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1.83</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0.44</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Hostel mess or tiffin</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8</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1.75</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2.38</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2.38</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3.00</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2.25</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A roughly equal mix</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1.60</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2.60</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2.00</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2.60</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1.80</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Restaurants or delivery</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0.75</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1.50</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3.00</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2.75</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2.25</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4"/>
                  </a:ext>
                </a:extLst>
              </a:tr>
            </a:tbl>
          </a:graphicData>
        </a:graphic>
      </p:graphicFrame>
      <p:sp>
        <p:nvSpPr>
          <p:cNvPr id="6" name="Shape 3"/>
          <p:cNvSpPr/>
          <p:nvPr/>
        </p:nvSpPr>
        <p:spPr>
          <a:xfrm>
            <a:off x="812800" y="4037806"/>
            <a:ext cx="3420566" cy="1079500"/>
          </a:xfrm>
          <a:prstGeom prst="roundRect">
            <a:avLst>
              <a:gd name="adj" fmla="val 9412"/>
            </a:avLst>
          </a:prstGeom>
          <a:solidFill>
            <a:srgbClr val="DCEBE2"/>
          </a:solidFill>
          <a:ln/>
        </p:spPr>
        <p:txBody>
          <a:bodyPr/>
          <a:lstStyle/>
          <a:p>
            <a:endParaRPr lang="en-US"/>
          </a:p>
        </p:txBody>
      </p:sp>
      <p:sp>
        <p:nvSpPr>
          <p:cNvPr id="7" name="Text 4"/>
          <p:cNvSpPr/>
          <p:nvPr/>
        </p:nvSpPr>
        <p:spPr>
          <a:xfrm>
            <a:off x="1016000" y="4215606"/>
            <a:ext cx="3104591"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Home-cooked</a:t>
            </a:r>
            <a:endParaRPr lang="en-US" sz="1600" dirty="0"/>
          </a:p>
        </p:txBody>
      </p:sp>
      <p:sp>
        <p:nvSpPr>
          <p:cNvPr id="8" name="Text 5"/>
          <p:cNvSpPr/>
          <p:nvPr/>
        </p:nvSpPr>
        <p:spPr>
          <a:xfrm>
            <a:off x="1016000" y="4507706"/>
            <a:ext cx="3104591"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F2A24"/>
                </a:solidFill>
                <a:latin typeface="Arial" pitchFamily="34" charset="0"/>
                <a:ea typeface="Arial" pitchFamily="34" charset="-122"/>
                <a:cs typeface="Arial" pitchFamily="34" charset="-120"/>
              </a:rPr>
              <a:t>Most fruit and vegetables, least packaged food, rarely skips breakfast.</a:t>
            </a:r>
            <a:endParaRPr lang="en-US" sz="1200" dirty="0"/>
          </a:p>
        </p:txBody>
      </p:sp>
      <p:sp>
        <p:nvSpPr>
          <p:cNvPr id="9" name="Shape 6"/>
          <p:cNvSpPr/>
          <p:nvPr/>
        </p:nvSpPr>
        <p:spPr>
          <a:xfrm>
            <a:off x="4385766" y="4037806"/>
            <a:ext cx="3420566" cy="1079500"/>
          </a:xfrm>
          <a:prstGeom prst="roundRect">
            <a:avLst>
              <a:gd name="adj" fmla="val 9412"/>
            </a:avLst>
          </a:prstGeom>
          <a:solidFill>
            <a:srgbClr val="F3E2C4"/>
          </a:solidFill>
          <a:ln/>
        </p:spPr>
        <p:txBody>
          <a:bodyPr/>
          <a:lstStyle/>
          <a:p>
            <a:endParaRPr lang="en-US"/>
          </a:p>
        </p:txBody>
      </p:sp>
      <p:sp>
        <p:nvSpPr>
          <p:cNvPr id="10" name="Text 7"/>
          <p:cNvSpPr/>
          <p:nvPr/>
        </p:nvSpPr>
        <p:spPr>
          <a:xfrm>
            <a:off x="4588966" y="4215606"/>
            <a:ext cx="3104591"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6B3F08"/>
                </a:solidFill>
                <a:latin typeface="Georgia" pitchFamily="18" charset="0"/>
                <a:ea typeface="Georgia" pitchFamily="18" charset="-122"/>
                <a:cs typeface="Georgia" pitchFamily="18" charset="-120"/>
              </a:rPr>
              <a:t>Restaurants or delivery</a:t>
            </a:r>
            <a:endParaRPr lang="en-US" sz="1600" dirty="0"/>
          </a:p>
        </p:txBody>
      </p:sp>
      <p:sp>
        <p:nvSpPr>
          <p:cNvPr id="11" name="Text 8"/>
          <p:cNvSpPr/>
          <p:nvPr/>
        </p:nvSpPr>
        <p:spPr>
          <a:xfrm>
            <a:off x="4588966" y="4507706"/>
            <a:ext cx="3104591"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2A10"/>
                </a:solidFill>
                <a:latin typeface="Arial" pitchFamily="34" charset="0"/>
                <a:ea typeface="Arial" pitchFamily="34" charset="-122"/>
                <a:cs typeface="Arial" pitchFamily="34" charset="-120"/>
              </a:rPr>
              <a:t>Least fruit and vegetables and the most packaged food of any group.</a:t>
            </a:r>
            <a:endParaRPr lang="en-US" sz="1200" dirty="0"/>
          </a:p>
        </p:txBody>
      </p:sp>
      <p:sp>
        <p:nvSpPr>
          <p:cNvPr id="12" name="Shape 9"/>
          <p:cNvSpPr/>
          <p:nvPr/>
        </p:nvSpPr>
        <p:spPr>
          <a:xfrm>
            <a:off x="7958733" y="4037806"/>
            <a:ext cx="3420566" cy="1079500"/>
          </a:xfrm>
          <a:prstGeom prst="roundRect">
            <a:avLst>
              <a:gd name="adj" fmla="val 9412"/>
            </a:avLst>
          </a:prstGeom>
          <a:solidFill>
            <a:srgbClr val="F3E2C4"/>
          </a:solidFill>
          <a:ln/>
        </p:spPr>
        <p:txBody>
          <a:bodyPr/>
          <a:lstStyle/>
          <a:p>
            <a:endParaRPr lang="en-US"/>
          </a:p>
        </p:txBody>
      </p:sp>
      <p:sp>
        <p:nvSpPr>
          <p:cNvPr id="13" name="Text 10"/>
          <p:cNvSpPr/>
          <p:nvPr/>
        </p:nvSpPr>
        <p:spPr>
          <a:xfrm>
            <a:off x="8161933" y="4215606"/>
            <a:ext cx="3104591"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6B3F08"/>
                </a:solidFill>
                <a:latin typeface="Georgia" pitchFamily="18" charset="0"/>
                <a:ea typeface="Georgia" pitchFamily="18" charset="-122"/>
                <a:cs typeface="Georgia" pitchFamily="18" charset="-120"/>
              </a:rPr>
              <a:t>Hostel mess</a:t>
            </a:r>
            <a:endParaRPr lang="en-US" sz="1600" dirty="0"/>
          </a:p>
        </p:txBody>
      </p:sp>
      <p:sp>
        <p:nvSpPr>
          <p:cNvPr id="14" name="Text 11"/>
          <p:cNvSpPr/>
          <p:nvPr/>
        </p:nvSpPr>
        <p:spPr>
          <a:xfrm>
            <a:off x="8161933" y="4507706"/>
            <a:ext cx="3104591"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3D2A10"/>
                </a:solidFill>
                <a:latin typeface="Arial" pitchFamily="34" charset="0"/>
                <a:ea typeface="Arial" pitchFamily="34" charset="-122"/>
                <a:cs typeface="Arial" pitchFamily="34" charset="-120"/>
              </a:rPr>
              <a:t>Snacks most often and skips breakfast as much as restaurant eaters.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E7D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RESULTS · DIETARY PATTERNS</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Four self-reported dietary patterns</a:t>
            </a:r>
            <a:endParaRPr lang="en-US" sz="3200" dirty="0"/>
          </a:p>
        </p:txBody>
      </p:sp>
      <p:sp>
        <p:nvSpPr>
          <p:cNvPr id="4" name="Shape 2"/>
          <p:cNvSpPr/>
          <p:nvPr/>
        </p:nvSpPr>
        <p:spPr>
          <a:xfrm>
            <a:off x="812800" y="1822450"/>
            <a:ext cx="2413000" cy="482600"/>
          </a:xfrm>
          <a:custGeom>
            <a:avLst/>
            <a:gdLst/>
            <a:ahLst/>
            <a:cxnLst/>
            <a:rect l="l" t="t" r="r" b="b"/>
            <a:pathLst>
              <a:path w="2413000" h="482600">
                <a:moveTo>
                  <a:pt x="0" y="76200"/>
                </a:moveTo>
                <a:arcTo wR="76200" hR="76200" stAng="10800000" swAng="5400000"/>
                <a:lnTo>
                  <a:pt x="2413000" y="0"/>
                </a:lnTo>
                <a:lnTo>
                  <a:pt x="2413000" y="482600"/>
                </a:lnTo>
                <a:lnTo>
                  <a:pt x="76200" y="482600"/>
                </a:lnTo>
                <a:arcTo wR="76200" hR="76200" stAng="5400000" swAng="5400000"/>
                <a:close/>
              </a:path>
            </a:pathLst>
          </a:custGeom>
          <a:solidFill>
            <a:srgbClr val="B5701A"/>
          </a:solidFill>
          <a:ln/>
        </p:spPr>
        <p:txBody>
          <a:bodyPr/>
          <a:lstStyle/>
          <a:p>
            <a:endParaRPr lang="en-US"/>
          </a:p>
        </p:txBody>
      </p:sp>
      <p:sp>
        <p:nvSpPr>
          <p:cNvPr id="5" name="Text 3"/>
          <p:cNvSpPr/>
          <p:nvPr/>
        </p:nvSpPr>
        <p:spPr>
          <a:xfrm>
            <a:off x="939800" y="1924050"/>
            <a:ext cx="2223770" cy="304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FDF7"/>
                </a:solidFill>
                <a:latin typeface="Arial" pitchFamily="34" charset="0"/>
                <a:ea typeface="Arial" pitchFamily="34" charset="-122"/>
                <a:cs typeface="Arial" pitchFamily="34" charset="-120"/>
              </a:rPr>
              <a:t>8 · 23%</a:t>
            </a:r>
            <a:endParaRPr lang="en-US" sz="1600" dirty="0"/>
          </a:p>
        </p:txBody>
      </p:sp>
      <p:sp>
        <p:nvSpPr>
          <p:cNvPr id="6" name="Shape 4"/>
          <p:cNvSpPr/>
          <p:nvPr/>
        </p:nvSpPr>
        <p:spPr>
          <a:xfrm>
            <a:off x="3225800" y="1822450"/>
            <a:ext cx="2717800" cy="482600"/>
          </a:xfrm>
          <a:prstGeom prst="rect">
            <a:avLst/>
          </a:prstGeom>
          <a:solidFill>
            <a:srgbClr val="2F6B4F"/>
          </a:solidFill>
          <a:ln/>
        </p:spPr>
        <p:txBody>
          <a:bodyPr/>
          <a:lstStyle/>
          <a:p>
            <a:endParaRPr lang="en-US"/>
          </a:p>
        </p:txBody>
      </p:sp>
      <p:sp>
        <p:nvSpPr>
          <p:cNvPr id="7" name="Text 5"/>
          <p:cNvSpPr/>
          <p:nvPr/>
        </p:nvSpPr>
        <p:spPr>
          <a:xfrm>
            <a:off x="3352800" y="1924050"/>
            <a:ext cx="2537714" cy="304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FFFDF7"/>
                </a:solidFill>
                <a:latin typeface="Arial" pitchFamily="34" charset="0"/>
                <a:ea typeface="Arial" pitchFamily="34" charset="-122"/>
                <a:cs typeface="Arial" pitchFamily="34" charset="-120"/>
              </a:rPr>
              <a:t>9 · 26%</a:t>
            </a:r>
            <a:endParaRPr lang="en-US" sz="1600" dirty="0"/>
          </a:p>
        </p:txBody>
      </p:sp>
      <p:sp>
        <p:nvSpPr>
          <p:cNvPr id="8" name="Shape 6"/>
          <p:cNvSpPr/>
          <p:nvPr/>
        </p:nvSpPr>
        <p:spPr>
          <a:xfrm>
            <a:off x="5943600" y="1822450"/>
            <a:ext cx="1809750" cy="482600"/>
          </a:xfrm>
          <a:prstGeom prst="rect">
            <a:avLst/>
          </a:prstGeom>
          <a:solidFill>
            <a:srgbClr val="E3C48E"/>
          </a:solidFill>
          <a:ln/>
        </p:spPr>
        <p:txBody>
          <a:bodyPr/>
          <a:lstStyle/>
          <a:p>
            <a:endParaRPr lang="en-US"/>
          </a:p>
        </p:txBody>
      </p:sp>
      <p:sp>
        <p:nvSpPr>
          <p:cNvPr id="9" name="Text 7"/>
          <p:cNvSpPr/>
          <p:nvPr/>
        </p:nvSpPr>
        <p:spPr>
          <a:xfrm>
            <a:off x="6070600" y="1924050"/>
            <a:ext cx="1606550" cy="304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3D2A10"/>
                </a:solidFill>
                <a:latin typeface="Arial" pitchFamily="34" charset="0"/>
                <a:ea typeface="Arial" pitchFamily="34" charset="-122"/>
                <a:cs typeface="Arial" pitchFamily="34" charset="-120"/>
              </a:rPr>
              <a:t>6 · 17%</a:t>
            </a:r>
            <a:endParaRPr lang="en-US" sz="1600" dirty="0"/>
          </a:p>
        </p:txBody>
      </p:sp>
      <p:sp>
        <p:nvSpPr>
          <p:cNvPr id="10" name="Shape 8"/>
          <p:cNvSpPr/>
          <p:nvPr/>
        </p:nvSpPr>
        <p:spPr>
          <a:xfrm>
            <a:off x="7753350" y="1822450"/>
            <a:ext cx="3625850" cy="482600"/>
          </a:xfrm>
          <a:custGeom>
            <a:avLst/>
            <a:gdLst/>
            <a:ahLst/>
            <a:cxnLst/>
            <a:rect l="l" t="t" r="r" b="b"/>
            <a:pathLst>
              <a:path w="3625850" h="482600">
                <a:moveTo>
                  <a:pt x="3549650" y="0"/>
                </a:moveTo>
                <a:arcTo wR="76200" hR="76200" stAng="16200000" swAng="5400000"/>
                <a:lnTo>
                  <a:pt x="3625850" y="406400"/>
                </a:lnTo>
                <a:arcTo wR="76200" hR="76200" stAng="0" swAng="5400000"/>
                <a:lnTo>
                  <a:pt x="0" y="482600"/>
                </a:lnTo>
                <a:lnTo>
                  <a:pt x="0" y="0"/>
                </a:lnTo>
                <a:close/>
              </a:path>
            </a:pathLst>
          </a:custGeom>
          <a:solidFill>
            <a:srgbClr val="B9C8BE"/>
          </a:solidFill>
          <a:ln/>
        </p:spPr>
        <p:txBody>
          <a:bodyPr/>
          <a:lstStyle/>
          <a:p>
            <a:endParaRPr lang="en-US"/>
          </a:p>
        </p:txBody>
      </p:sp>
      <p:sp>
        <p:nvSpPr>
          <p:cNvPr id="11" name="Text 9"/>
          <p:cNvSpPr/>
          <p:nvPr/>
        </p:nvSpPr>
        <p:spPr>
          <a:xfrm>
            <a:off x="7880350" y="1924050"/>
            <a:ext cx="3473006" cy="30480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1F2A24"/>
                </a:solidFill>
                <a:latin typeface="Arial" pitchFamily="34" charset="0"/>
                <a:ea typeface="Arial" pitchFamily="34" charset="-122"/>
                <a:cs typeface="Arial" pitchFamily="34" charset="-120"/>
              </a:rPr>
              <a:t>12 · 34%</a:t>
            </a:r>
            <a:endParaRPr lang="en-US" sz="1600" dirty="0"/>
          </a:p>
        </p:txBody>
      </p:sp>
      <p:sp>
        <p:nvSpPr>
          <p:cNvPr id="12" name="Shape 10"/>
          <p:cNvSpPr/>
          <p:nvPr/>
        </p:nvSpPr>
        <p:spPr>
          <a:xfrm>
            <a:off x="812800" y="2559050"/>
            <a:ext cx="2527300" cy="2349500"/>
          </a:xfrm>
          <a:prstGeom prst="roundRect">
            <a:avLst>
              <a:gd name="adj" fmla="val 4324"/>
            </a:avLst>
          </a:prstGeom>
          <a:solidFill>
            <a:srgbClr val="FFFDF7"/>
          </a:solidFill>
          <a:ln/>
        </p:spPr>
        <p:txBody>
          <a:bodyPr/>
          <a:lstStyle/>
          <a:p>
            <a:endParaRPr lang="en-US"/>
          </a:p>
        </p:txBody>
      </p:sp>
      <p:sp>
        <p:nvSpPr>
          <p:cNvPr id="13" name="Shape 11"/>
          <p:cNvSpPr/>
          <p:nvPr/>
        </p:nvSpPr>
        <p:spPr>
          <a:xfrm>
            <a:off x="812800" y="2559050"/>
            <a:ext cx="2527300" cy="2349500"/>
          </a:xfrm>
          <a:custGeom>
            <a:avLst/>
            <a:gdLst/>
            <a:ahLst/>
            <a:cxnLst/>
            <a:rect l="l" t="t" r="r" b="b"/>
            <a:pathLst>
              <a:path w="2527300" h="234950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B5701A"/>
          </a:solidFill>
          <a:ln/>
        </p:spPr>
        <p:txBody>
          <a:bodyPr/>
          <a:lstStyle/>
          <a:p>
            <a:endParaRPr lang="en-US"/>
          </a:p>
        </p:txBody>
      </p:sp>
      <p:sp>
        <p:nvSpPr>
          <p:cNvPr id="14" name="Text 12"/>
          <p:cNvSpPr/>
          <p:nvPr/>
        </p:nvSpPr>
        <p:spPr>
          <a:xfrm>
            <a:off x="1016000" y="2813050"/>
            <a:ext cx="2184527" cy="5080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Processed-food dominant</a:t>
            </a:r>
            <a:endParaRPr lang="en-US" sz="1600" dirty="0"/>
          </a:p>
        </p:txBody>
      </p:sp>
      <p:sp>
        <p:nvSpPr>
          <p:cNvPr id="15" name="Text 13"/>
          <p:cNvSpPr/>
          <p:nvPr/>
        </p:nvSpPr>
        <p:spPr>
          <a:xfrm>
            <a:off x="1016000" y="3371850"/>
            <a:ext cx="2184527" cy="44450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4A5550"/>
                </a:solidFill>
                <a:latin typeface="Arial" pitchFamily="34" charset="0"/>
                <a:ea typeface="Arial" pitchFamily="34" charset="-122"/>
                <a:cs typeface="Arial" pitchFamily="34" charset="-120"/>
              </a:rPr>
              <a:t>Rule: packaged food on 5+ days a week</a:t>
            </a:r>
            <a:endParaRPr lang="en-US" sz="1200" dirty="0"/>
          </a:p>
        </p:txBody>
      </p:sp>
      <p:sp>
        <p:nvSpPr>
          <p:cNvPr id="16" name="Text 14"/>
          <p:cNvSpPr/>
          <p:nvPr/>
        </p:nvSpPr>
        <p:spPr>
          <a:xfrm>
            <a:off x="1016000" y="3867150"/>
            <a:ext cx="2184527" cy="8636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Lowest fruit (0.88) and most breakfast skipping (3.00). Rate own meals balanced 1.88 of 5. None eat mainly at home.</a:t>
            </a:r>
            <a:endParaRPr lang="en-US" sz="1200" dirty="0"/>
          </a:p>
        </p:txBody>
      </p:sp>
      <p:sp>
        <p:nvSpPr>
          <p:cNvPr id="17" name="Shape 15"/>
          <p:cNvSpPr/>
          <p:nvPr/>
        </p:nvSpPr>
        <p:spPr>
          <a:xfrm>
            <a:off x="3492500" y="2559050"/>
            <a:ext cx="2527300" cy="2349500"/>
          </a:xfrm>
          <a:prstGeom prst="roundRect">
            <a:avLst>
              <a:gd name="adj" fmla="val 4324"/>
            </a:avLst>
          </a:prstGeom>
          <a:solidFill>
            <a:srgbClr val="FFFDF7"/>
          </a:solidFill>
          <a:ln/>
        </p:spPr>
        <p:txBody>
          <a:bodyPr/>
          <a:lstStyle/>
          <a:p>
            <a:endParaRPr lang="en-US"/>
          </a:p>
        </p:txBody>
      </p:sp>
      <p:sp>
        <p:nvSpPr>
          <p:cNvPr id="18" name="Shape 16"/>
          <p:cNvSpPr/>
          <p:nvPr/>
        </p:nvSpPr>
        <p:spPr>
          <a:xfrm>
            <a:off x="3492500" y="2559050"/>
            <a:ext cx="2527300" cy="2349500"/>
          </a:xfrm>
          <a:custGeom>
            <a:avLst/>
            <a:gdLst/>
            <a:ahLst/>
            <a:cxnLst/>
            <a:rect l="l" t="t" r="r" b="b"/>
            <a:pathLst>
              <a:path w="2527300" h="234950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2F6B4F"/>
          </a:solidFill>
          <a:ln/>
        </p:spPr>
        <p:txBody>
          <a:bodyPr/>
          <a:lstStyle/>
          <a:p>
            <a:endParaRPr lang="en-US"/>
          </a:p>
        </p:txBody>
      </p:sp>
      <p:sp>
        <p:nvSpPr>
          <p:cNvPr id="19" name="Text 17"/>
          <p:cNvSpPr/>
          <p:nvPr/>
        </p:nvSpPr>
        <p:spPr>
          <a:xfrm>
            <a:off x="3695700" y="2813050"/>
            <a:ext cx="2184527"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Fruit and veg rich</a:t>
            </a:r>
            <a:endParaRPr lang="en-US" sz="1600" dirty="0"/>
          </a:p>
        </p:txBody>
      </p:sp>
      <p:sp>
        <p:nvSpPr>
          <p:cNvPr id="20" name="Text 18"/>
          <p:cNvSpPr/>
          <p:nvPr/>
        </p:nvSpPr>
        <p:spPr>
          <a:xfrm>
            <a:off x="3695700" y="3130550"/>
            <a:ext cx="2184527" cy="65405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4A5550"/>
                </a:solidFill>
                <a:latin typeface="Arial" pitchFamily="34" charset="0"/>
                <a:ea typeface="Arial" pitchFamily="34" charset="-122"/>
                <a:cs typeface="Arial" pitchFamily="34" charset="-120"/>
              </a:rPr>
              <a:t>Rule: fruit and vegetables 5+ days, packaged food 2 days or fewer</a:t>
            </a:r>
            <a:endParaRPr lang="en-US" sz="1200" dirty="0"/>
          </a:p>
        </p:txBody>
      </p:sp>
      <p:sp>
        <p:nvSpPr>
          <p:cNvPr id="21" name="Text 19"/>
          <p:cNvSpPr/>
          <p:nvPr/>
        </p:nvSpPr>
        <p:spPr>
          <a:xfrm>
            <a:off x="3695700" y="3835400"/>
            <a:ext cx="2184527" cy="6540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Never skip breakfast; rate meals balanced 4.22 of 5. 8 of 9 eat mainly at home.</a:t>
            </a:r>
            <a:endParaRPr lang="en-US" sz="1200" dirty="0"/>
          </a:p>
        </p:txBody>
      </p:sp>
      <p:sp>
        <p:nvSpPr>
          <p:cNvPr id="22" name="Shape 20"/>
          <p:cNvSpPr/>
          <p:nvPr/>
        </p:nvSpPr>
        <p:spPr>
          <a:xfrm>
            <a:off x="6172200" y="2559050"/>
            <a:ext cx="2527300" cy="2349500"/>
          </a:xfrm>
          <a:prstGeom prst="roundRect">
            <a:avLst>
              <a:gd name="adj" fmla="val 4324"/>
            </a:avLst>
          </a:prstGeom>
          <a:solidFill>
            <a:srgbClr val="FFFDF7"/>
          </a:solidFill>
          <a:ln/>
        </p:spPr>
        <p:txBody>
          <a:bodyPr/>
          <a:lstStyle/>
          <a:p>
            <a:endParaRPr lang="en-US"/>
          </a:p>
        </p:txBody>
      </p:sp>
      <p:sp>
        <p:nvSpPr>
          <p:cNvPr id="23" name="Shape 21"/>
          <p:cNvSpPr/>
          <p:nvPr/>
        </p:nvSpPr>
        <p:spPr>
          <a:xfrm>
            <a:off x="6172200" y="2559050"/>
            <a:ext cx="2527300" cy="2349500"/>
          </a:xfrm>
          <a:custGeom>
            <a:avLst/>
            <a:gdLst/>
            <a:ahLst/>
            <a:cxnLst/>
            <a:rect l="l" t="t" r="r" b="b"/>
            <a:pathLst>
              <a:path w="2527300" h="234950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E3C48E"/>
          </a:solidFill>
          <a:ln/>
        </p:spPr>
        <p:txBody>
          <a:bodyPr/>
          <a:lstStyle/>
          <a:p>
            <a:endParaRPr lang="en-US"/>
          </a:p>
        </p:txBody>
      </p:sp>
      <p:sp>
        <p:nvSpPr>
          <p:cNvPr id="24" name="Text 22"/>
          <p:cNvSpPr/>
          <p:nvPr/>
        </p:nvSpPr>
        <p:spPr>
          <a:xfrm>
            <a:off x="6375400" y="2813050"/>
            <a:ext cx="2184527" cy="5080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Irregular or meal-skipping</a:t>
            </a:r>
            <a:endParaRPr lang="en-US" sz="1600" dirty="0"/>
          </a:p>
        </p:txBody>
      </p:sp>
      <p:sp>
        <p:nvSpPr>
          <p:cNvPr id="25" name="Text 23"/>
          <p:cNvSpPr/>
          <p:nvPr/>
        </p:nvSpPr>
        <p:spPr>
          <a:xfrm>
            <a:off x="6375400" y="3371850"/>
            <a:ext cx="2184527" cy="44450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4A5550"/>
                </a:solidFill>
                <a:latin typeface="Arial" pitchFamily="34" charset="0"/>
                <a:ea typeface="Arial" pitchFamily="34" charset="-122"/>
                <a:cs typeface="Arial" pitchFamily="34" charset="-120"/>
              </a:rPr>
              <a:t>Rule: skips breakfast 3+ days or irregular timing</a:t>
            </a:r>
            <a:endParaRPr lang="en-US" sz="1200" dirty="0"/>
          </a:p>
        </p:txBody>
      </p:sp>
      <p:sp>
        <p:nvSpPr>
          <p:cNvPr id="26" name="Text 24"/>
          <p:cNvSpPr/>
          <p:nvPr/>
        </p:nvSpPr>
        <p:spPr>
          <a:xfrm>
            <a:off x="6375400" y="3867150"/>
            <a:ext cx="2184527" cy="6540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Fruit 1.67, packaged food 1.83. Three of the six eat in a hostel mess.</a:t>
            </a:r>
            <a:endParaRPr lang="en-US" sz="1200" dirty="0"/>
          </a:p>
        </p:txBody>
      </p:sp>
      <p:sp>
        <p:nvSpPr>
          <p:cNvPr id="27" name="Shape 25"/>
          <p:cNvSpPr/>
          <p:nvPr/>
        </p:nvSpPr>
        <p:spPr>
          <a:xfrm>
            <a:off x="8851900" y="2559050"/>
            <a:ext cx="2527300" cy="2349500"/>
          </a:xfrm>
          <a:prstGeom prst="roundRect">
            <a:avLst>
              <a:gd name="adj" fmla="val 4324"/>
            </a:avLst>
          </a:prstGeom>
          <a:solidFill>
            <a:srgbClr val="FFFDF7"/>
          </a:solidFill>
          <a:ln/>
        </p:spPr>
        <p:txBody>
          <a:bodyPr/>
          <a:lstStyle/>
          <a:p>
            <a:endParaRPr lang="en-US"/>
          </a:p>
        </p:txBody>
      </p:sp>
      <p:sp>
        <p:nvSpPr>
          <p:cNvPr id="28" name="Shape 26"/>
          <p:cNvSpPr/>
          <p:nvPr/>
        </p:nvSpPr>
        <p:spPr>
          <a:xfrm>
            <a:off x="8851900" y="2559050"/>
            <a:ext cx="2527300" cy="2349500"/>
          </a:xfrm>
          <a:custGeom>
            <a:avLst/>
            <a:gdLst/>
            <a:ahLst/>
            <a:cxnLst/>
            <a:rect l="l" t="t" r="r" b="b"/>
            <a:pathLst>
              <a:path w="2527300" h="2349500">
                <a:moveTo>
                  <a:pt x="0" y="101600"/>
                </a:moveTo>
                <a:lnTo>
                  <a:pt x="0" y="101600"/>
                </a:lnTo>
                <a:arcTo wR="101600" hR="101600" stAng="10800000" swAng="5400000"/>
                <a:lnTo>
                  <a:pt x="2425700" y="0"/>
                </a:lnTo>
                <a:arcTo wR="101600" hR="101600" stAng="16200000" swAng="5400000"/>
                <a:lnTo>
                  <a:pt x="2527300" y="101600"/>
                </a:lnTo>
                <a:arcTo wR="101600" hR="50800" stAng="0" swAng="-5400000"/>
                <a:lnTo>
                  <a:pt x="101600" y="50800"/>
                </a:lnTo>
                <a:arcTo wR="101600" hR="50800" stAng="16200000" swAng="-5400000"/>
                <a:close/>
              </a:path>
            </a:pathLst>
          </a:custGeom>
          <a:solidFill>
            <a:srgbClr val="B9C8BE"/>
          </a:solidFill>
          <a:ln/>
        </p:spPr>
        <p:txBody>
          <a:bodyPr/>
          <a:lstStyle/>
          <a:p>
            <a:endParaRPr lang="en-US"/>
          </a:p>
        </p:txBody>
      </p:sp>
      <p:sp>
        <p:nvSpPr>
          <p:cNvPr id="29" name="Text 27"/>
          <p:cNvSpPr/>
          <p:nvPr/>
        </p:nvSpPr>
        <p:spPr>
          <a:xfrm>
            <a:off x="9055100" y="2813050"/>
            <a:ext cx="2184527"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Mixed or moderate</a:t>
            </a:r>
            <a:endParaRPr lang="en-US" sz="1600" dirty="0"/>
          </a:p>
        </p:txBody>
      </p:sp>
      <p:sp>
        <p:nvSpPr>
          <p:cNvPr id="30" name="Text 28"/>
          <p:cNvSpPr/>
          <p:nvPr/>
        </p:nvSpPr>
        <p:spPr>
          <a:xfrm>
            <a:off x="9055100" y="3130550"/>
            <a:ext cx="2184527" cy="23495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4A5550"/>
                </a:solidFill>
                <a:latin typeface="Arial" pitchFamily="34" charset="0"/>
                <a:ea typeface="Arial" pitchFamily="34" charset="-122"/>
                <a:cs typeface="Arial" pitchFamily="34" charset="-120"/>
              </a:rPr>
              <a:t>Rule: everyone else</a:t>
            </a:r>
            <a:endParaRPr lang="en-US" sz="1200" dirty="0"/>
          </a:p>
        </p:txBody>
      </p:sp>
      <p:sp>
        <p:nvSpPr>
          <p:cNvPr id="31" name="Text 29"/>
          <p:cNvSpPr/>
          <p:nvPr/>
        </p:nvSpPr>
        <p:spPr>
          <a:xfrm>
            <a:off x="9055100" y="3416300"/>
            <a:ext cx="2184527" cy="6540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Vegetables most days (3.17) but fruit only 1.92. 9 of 12 eat mainly at home.</a:t>
            </a:r>
            <a:endParaRPr lang="en-US" sz="1200" dirty="0"/>
          </a:p>
        </p:txBody>
      </p:sp>
      <p:sp>
        <p:nvSpPr>
          <p:cNvPr id="32" name="Text 30"/>
          <p:cNvSpPr/>
          <p:nvPr/>
        </p:nvSpPr>
        <p:spPr>
          <a:xfrm>
            <a:off x="812800" y="6032500"/>
            <a:ext cx="10883392"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E6863"/>
                </a:solidFill>
                <a:latin typeface="Arial" pitchFamily="34" charset="0"/>
                <a:ea typeface="Arial" pitchFamily="34" charset="-122"/>
                <a:cs typeface="Arial" pitchFamily="34" charset="-120"/>
              </a:rPr>
              <a:t>Rules set before grouping and applied in the order shown. Scores are mean frequency (0 = never, 4 = daily). From survey answers B3–B5; to be confirmed with 7-day logs.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RESULTS · PERCEIVED STRENGTHS AND GAPS</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Protein is the gap people feel most</a:t>
            </a:r>
            <a:endParaRPr lang="en-US" sz="3200" dirty="0"/>
          </a:p>
        </p:txBody>
      </p:sp>
      <p:sp>
        <p:nvSpPr>
          <p:cNvPr id="4" name="Text 2"/>
          <p:cNvSpPr/>
          <p:nvPr/>
        </p:nvSpPr>
        <p:spPr>
          <a:xfrm>
            <a:off x="812800" y="1822450"/>
            <a:ext cx="555819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“Which nutrients might you be short of?” (select all)</a:t>
            </a:r>
            <a:endParaRPr lang="en-US" sz="1200" dirty="0"/>
          </a:p>
        </p:txBody>
      </p:sp>
      <p:sp>
        <p:nvSpPr>
          <p:cNvPr id="5" name="Text 3"/>
          <p:cNvSpPr/>
          <p:nvPr/>
        </p:nvSpPr>
        <p:spPr>
          <a:xfrm>
            <a:off x="812800" y="2108200"/>
            <a:ext cx="15748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Protein</a:t>
            </a:r>
            <a:endParaRPr lang="en-US" sz="1200" dirty="0"/>
          </a:p>
        </p:txBody>
      </p:sp>
      <p:sp>
        <p:nvSpPr>
          <p:cNvPr id="6" name="Shape 4"/>
          <p:cNvSpPr/>
          <p:nvPr/>
        </p:nvSpPr>
        <p:spPr>
          <a:xfrm>
            <a:off x="2438400" y="2124075"/>
            <a:ext cx="2838450" cy="177800"/>
          </a:xfrm>
          <a:prstGeom prst="roundRect">
            <a:avLst>
              <a:gd name="adj" fmla="val 14286"/>
            </a:avLst>
          </a:prstGeom>
          <a:solidFill>
            <a:srgbClr val="B5701A"/>
          </a:solidFill>
          <a:ln/>
        </p:spPr>
        <p:txBody>
          <a:bodyPr/>
          <a:lstStyle/>
          <a:p>
            <a:endParaRPr lang="en-US"/>
          </a:p>
        </p:txBody>
      </p:sp>
      <p:sp>
        <p:nvSpPr>
          <p:cNvPr id="7" name="Text 5"/>
          <p:cNvSpPr/>
          <p:nvPr/>
        </p:nvSpPr>
        <p:spPr>
          <a:xfrm>
            <a:off x="5378450" y="2108200"/>
            <a:ext cx="742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15 (43%)</a:t>
            </a:r>
            <a:endParaRPr lang="en-US" sz="1200" dirty="0"/>
          </a:p>
        </p:txBody>
      </p:sp>
      <p:sp>
        <p:nvSpPr>
          <p:cNvPr id="8" name="Text 6"/>
          <p:cNvSpPr/>
          <p:nvPr/>
        </p:nvSpPr>
        <p:spPr>
          <a:xfrm>
            <a:off x="812800" y="2393950"/>
            <a:ext cx="15748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Fibre</a:t>
            </a:r>
            <a:endParaRPr lang="en-US" sz="1200" dirty="0"/>
          </a:p>
        </p:txBody>
      </p:sp>
      <p:sp>
        <p:nvSpPr>
          <p:cNvPr id="9" name="Shape 7"/>
          <p:cNvSpPr/>
          <p:nvPr/>
        </p:nvSpPr>
        <p:spPr>
          <a:xfrm>
            <a:off x="2438400" y="2409825"/>
            <a:ext cx="1320800" cy="177800"/>
          </a:xfrm>
          <a:prstGeom prst="roundRect">
            <a:avLst>
              <a:gd name="adj" fmla="val 14286"/>
            </a:avLst>
          </a:prstGeom>
          <a:solidFill>
            <a:srgbClr val="2F6B4F"/>
          </a:solidFill>
          <a:ln/>
        </p:spPr>
        <p:txBody>
          <a:bodyPr/>
          <a:lstStyle/>
          <a:p>
            <a:endParaRPr lang="en-US"/>
          </a:p>
        </p:txBody>
      </p:sp>
      <p:sp>
        <p:nvSpPr>
          <p:cNvPr id="10" name="Text 8"/>
          <p:cNvSpPr/>
          <p:nvPr/>
        </p:nvSpPr>
        <p:spPr>
          <a:xfrm>
            <a:off x="3860800" y="2393950"/>
            <a:ext cx="64043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7 (20%)</a:t>
            </a:r>
            <a:endParaRPr lang="en-US" sz="1200" dirty="0"/>
          </a:p>
        </p:txBody>
      </p:sp>
      <p:sp>
        <p:nvSpPr>
          <p:cNvPr id="11" name="Text 9"/>
          <p:cNvSpPr/>
          <p:nvPr/>
        </p:nvSpPr>
        <p:spPr>
          <a:xfrm>
            <a:off x="812800" y="2679700"/>
            <a:ext cx="15748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Fruit and veg</a:t>
            </a:r>
            <a:endParaRPr lang="en-US" sz="1200" dirty="0"/>
          </a:p>
        </p:txBody>
      </p:sp>
      <p:sp>
        <p:nvSpPr>
          <p:cNvPr id="12" name="Shape 10"/>
          <p:cNvSpPr/>
          <p:nvPr/>
        </p:nvSpPr>
        <p:spPr>
          <a:xfrm>
            <a:off x="2438400" y="2695575"/>
            <a:ext cx="1320800" cy="177800"/>
          </a:xfrm>
          <a:prstGeom prst="roundRect">
            <a:avLst>
              <a:gd name="adj" fmla="val 14286"/>
            </a:avLst>
          </a:prstGeom>
          <a:solidFill>
            <a:srgbClr val="2F6B4F"/>
          </a:solidFill>
          <a:ln/>
        </p:spPr>
        <p:txBody>
          <a:bodyPr/>
          <a:lstStyle/>
          <a:p>
            <a:endParaRPr lang="en-US"/>
          </a:p>
        </p:txBody>
      </p:sp>
      <p:sp>
        <p:nvSpPr>
          <p:cNvPr id="13" name="Text 11"/>
          <p:cNvSpPr/>
          <p:nvPr/>
        </p:nvSpPr>
        <p:spPr>
          <a:xfrm>
            <a:off x="3860800" y="2679700"/>
            <a:ext cx="64043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7 (20%)</a:t>
            </a:r>
            <a:endParaRPr lang="en-US" sz="1200" dirty="0"/>
          </a:p>
        </p:txBody>
      </p:sp>
      <p:sp>
        <p:nvSpPr>
          <p:cNvPr id="14" name="Text 12"/>
          <p:cNvSpPr/>
          <p:nvPr/>
        </p:nvSpPr>
        <p:spPr>
          <a:xfrm>
            <a:off x="812800" y="2965450"/>
            <a:ext cx="15748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Iron</a:t>
            </a:r>
            <a:endParaRPr lang="en-US" sz="1200" dirty="0"/>
          </a:p>
        </p:txBody>
      </p:sp>
      <p:sp>
        <p:nvSpPr>
          <p:cNvPr id="15" name="Shape 13"/>
          <p:cNvSpPr/>
          <p:nvPr/>
        </p:nvSpPr>
        <p:spPr>
          <a:xfrm>
            <a:off x="2438400" y="2981325"/>
            <a:ext cx="1123950" cy="177800"/>
          </a:xfrm>
          <a:prstGeom prst="roundRect">
            <a:avLst>
              <a:gd name="adj" fmla="val 14286"/>
            </a:avLst>
          </a:prstGeom>
          <a:solidFill>
            <a:srgbClr val="2F6B4F"/>
          </a:solidFill>
          <a:ln/>
        </p:spPr>
        <p:txBody>
          <a:bodyPr/>
          <a:lstStyle/>
          <a:p>
            <a:endParaRPr lang="en-US"/>
          </a:p>
        </p:txBody>
      </p:sp>
      <p:sp>
        <p:nvSpPr>
          <p:cNvPr id="16" name="Text 14"/>
          <p:cNvSpPr/>
          <p:nvPr/>
        </p:nvSpPr>
        <p:spPr>
          <a:xfrm>
            <a:off x="3663950" y="2965450"/>
            <a:ext cx="64043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6 (17%)</a:t>
            </a:r>
            <a:endParaRPr lang="en-US" sz="1200" dirty="0"/>
          </a:p>
        </p:txBody>
      </p:sp>
      <p:sp>
        <p:nvSpPr>
          <p:cNvPr id="17" name="Text 15"/>
          <p:cNvSpPr/>
          <p:nvPr/>
        </p:nvSpPr>
        <p:spPr>
          <a:xfrm>
            <a:off x="812800" y="3251200"/>
            <a:ext cx="15748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Vitamin B12</a:t>
            </a:r>
            <a:endParaRPr lang="en-US" sz="1200" dirty="0"/>
          </a:p>
        </p:txBody>
      </p:sp>
      <p:sp>
        <p:nvSpPr>
          <p:cNvPr id="18" name="Shape 16"/>
          <p:cNvSpPr/>
          <p:nvPr/>
        </p:nvSpPr>
        <p:spPr>
          <a:xfrm>
            <a:off x="2438400" y="3267075"/>
            <a:ext cx="927100" cy="177800"/>
          </a:xfrm>
          <a:prstGeom prst="roundRect">
            <a:avLst>
              <a:gd name="adj" fmla="val 14286"/>
            </a:avLst>
          </a:prstGeom>
          <a:solidFill>
            <a:srgbClr val="2F6B4F"/>
          </a:solidFill>
          <a:ln/>
        </p:spPr>
        <p:txBody>
          <a:bodyPr/>
          <a:lstStyle/>
          <a:p>
            <a:endParaRPr lang="en-US"/>
          </a:p>
        </p:txBody>
      </p:sp>
      <p:sp>
        <p:nvSpPr>
          <p:cNvPr id="19" name="Text 17"/>
          <p:cNvSpPr/>
          <p:nvPr/>
        </p:nvSpPr>
        <p:spPr>
          <a:xfrm>
            <a:off x="3467100" y="3251200"/>
            <a:ext cx="64043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5 (14%)</a:t>
            </a:r>
            <a:endParaRPr lang="en-US" sz="1200" dirty="0"/>
          </a:p>
        </p:txBody>
      </p:sp>
      <p:sp>
        <p:nvSpPr>
          <p:cNvPr id="20" name="Text 18"/>
          <p:cNvSpPr/>
          <p:nvPr/>
        </p:nvSpPr>
        <p:spPr>
          <a:xfrm>
            <a:off x="812800" y="3536950"/>
            <a:ext cx="15748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Calcium</a:t>
            </a:r>
            <a:endParaRPr lang="en-US" sz="1200" dirty="0"/>
          </a:p>
        </p:txBody>
      </p:sp>
      <p:sp>
        <p:nvSpPr>
          <p:cNvPr id="21" name="Shape 19"/>
          <p:cNvSpPr/>
          <p:nvPr/>
        </p:nvSpPr>
        <p:spPr>
          <a:xfrm>
            <a:off x="2438400" y="3552825"/>
            <a:ext cx="565150" cy="177800"/>
          </a:xfrm>
          <a:prstGeom prst="roundRect">
            <a:avLst>
              <a:gd name="adj" fmla="val 14286"/>
            </a:avLst>
          </a:prstGeom>
          <a:solidFill>
            <a:srgbClr val="2F6B4F"/>
          </a:solidFill>
          <a:ln/>
        </p:spPr>
        <p:txBody>
          <a:bodyPr/>
          <a:lstStyle/>
          <a:p>
            <a:endParaRPr lang="en-US"/>
          </a:p>
        </p:txBody>
      </p:sp>
      <p:sp>
        <p:nvSpPr>
          <p:cNvPr id="22" name="Text 20"/>
          <p:cNvSpPr/>
          <p:nvPr/>
        </p:nvSpPr>
        <p:spPr>
          <a:xfrm>
            <a:off x="3105150" y="3536950"/>
            <a:ext cx="53863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3 (9%)</a:t>
            </a:r>
            <a:endParaRPr lang="en-US" sz="1200" dirty="0"/>
          </a:p>
        </p:txBody>
      </p:sp>
      <p:sp>
        <p:nvSpPr>
          <p:cNvPr id="23" name="Text 21"/>
          <p:cNvSpPr/>
          <p:nvPr/>
        </p:nvSpPr>
        <p:spPr>
          <a:xfrm>
            <a:off x="812800" y="3822700"/>
            <a:ext cx="15748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Vitamin D</a:t>
            </a:r>
            <a:endParaRPr lang="en-US" sz="1200" dirty="0"/>
          </a:p>
        </p:txBody>
      </p:sp>
      <p:sp>
        <p:nvSpPr>
          <p:cNvPr id="24" name="Shape 22"/>
          <p:cNvSpPr/>
          <p:nvPr/>
        </p:nvSpPr>
        <p:spPr>
          <a:xfrm>
            <a:off x="2438400" y="3838575"/>
            <a:ext cx="374650" cy="177800"/>
          </a:xfrm>
          <a:prstGeom prst="roundRect">
            <a:avLst>
              <a:gd name="adj" fmla="val 14286"/>
            </a:avLst>
          </a:prstGeom>
          <a:solidFill>
            <a:srgbClr val="2F6B4F"/>
          </a:solidFill>
          <a:ln/>
        </p:spPr>
        <p:txBody>
          <a:bodyPr/>
          <a:lstStyle/>
          <a:p>
            <a:endParaRPr lang="en-US"/>
          </a:p>
        </p:txBody>
      </p:sp>
      <p:sp>
        <p:nvSpPr>
          <p:cNvPr id="25" name="Text 23"/>
          <p:cNvSpPr/>
          <p:nvPr/>
        </p:nvSpPr>
        <p:spPr>
          <a:xfrm>
            <a:off x="2914650" y="3822700"/>
            <a:ext cx="53863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2 (6%)</a:t>
            </a:r>
            <a:endParaRPr lang="en-US" sz="1200" dirty="0"/>
          </a:p>
        </p:txBody>
      </p:sp>
      <p:sp>
        <p:nvSpPr>
          <p:cNvPr id="26" name="Text 24"/>
          <p:cNvSpPr/>
          <p:nvPr/>
        </p:nvSpPr>
        <p:spPr>
          <a:xfrm>
            <a:off x="812800" y="4108450"/>
            <a:ext cx="15748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None, adequate</a:t>
            </a:r>
            <a:endParaRPr lang="en-US" sz="1200" dirty="0"/>
          </a:p>
        </p:txBody>
      </p:sp>
      <p:sp>
        <p:nvSpPr>
          <p:cNvPr id="27" name="Shape 25"/>
          <p:cNvSpPr/>
          <p:nvPr/>
        </p:nvSpPr>
        <p:spPr>
          <a:xfrm>
            <a:off x="2438400" y="4124325"/>
            <a:ext cx="1123950" cy="177800"/>
          </a:xfrm>
          <a:prstGeom prst="roundRect">
            <a:avLst>
              <a:gd name="adj" fmla="val 14286"/>
            </a:avLst>
          </a:prstGeom>
          <a:solidFill>
            <a:srgbClr val="B9C8BE"/>
          </a:solidFill>
          <a:ln/>
        </p:spPr>
        <p:txBody>
          <a:bodyPr/>
          <a:lstStyle/>
          <a:p>
            <a:endParaRPr lang="en-US"/>
          </a:p>
        </p:txBody>
      </p:sp>
      <p:sp>
        <p:nvSpPr>
          <p:cNvPr id="28" name="Text 26"/>
          <p:cNvSpPr/>
          <p:nvPr/>
        </p:nvSpPr>
        <p:spPr>
          <a:xfrm>
            <a:off x="3663950" y="4108450"/>
            <a:ext cx="64043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6 (17%)</a:t>
            </a:r>
            <a:endParaRPr lang="en-US" sz="1200" dirty="0"/>
          </a:p>
        </p:txBody>
      </p:sp>
      <p:sp>
        <p:nvSpPr>
          <p:cNvPr id="29" name="Text 27"/>
          <p:cNvSpPr/>
          <p:nvPr/>
        </p:nvSpPr>
        <p:spPr>
          <a:xfrm>
            <a:off x="812800" y="4394200"/>
            <a:ext cx="15748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Not sure</a:t>
            </a:r>
            <a:endParaRPr lang="en-US" sz="1200" dirty="0"/>
          </a:p>
        </p:txBody>
      </p:sp>
      <p:sp>
        <p:nvSpPr>
          <p:cNvPr id="30" name="Shape 28"/>
          <p:cNvSpPr/>
          <p:nvPr/>
        </p:nvSpPr>
        <p:spPr>
          <a:xfrm>
            <a:off x="2438400" y="4410075"/>
            <a:ext cx="1123950" cy="177800"/>
          </a:xfrm>
          <a:prstGeom prst="roundRect">
            <a:avLst>
              <a:gd name="adj" fmla="val 14286"/>
            </a:avLst>
          </a:prstGeom>
          <a:solidFill>
            <a:srgbClr val="B9C8BE"/>
          </a:solidFill>
          <a:ln/>
        </p:spPr>
        <p:txBody>
          <a:bodyPr/>
          <a:lstStyle/>
          <a:p>
            <a:endParaRPr lang="en-US"/>
          </a:p>
        </p:txBody>
      </p:sp>
      <p:sp>
        <p:nvSpPr>
          <p:cNvPr id="31" name="Text 29"/>
          <p:cNvSpPr/>
          <p:nvPr/>
        </p:nvSpPr>
        <p:spPr>
          <a:xfrm>
            <a:off x="3663950" y="4394200"/>
            <a:ext cx="64043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6 (17%)</a:t>
            </a:r>
            <a:endParaRPr lang="en-US" sz="1200" dirty="0"/>
          </a:p>
        </p:txBody>
      </p:sp>
      <p:sp>
        <p:nvSpPr>
          <p:cNvPr id="32" name="Shape 30"/>
          <p:cNvSpPr/>
          <p:nvPr/>
        </p:nvSpPr>
        <p:spPr>
          <a:xfrm>
            <a:off x="6466284" y="1825625"/>
            <a:ext cx="4909741" cy="2825750"/>
          </a:xfrm>
          <a:prstGeom prst="roundRect">
            <a:avLst>
              <a:gd name="adj" fmla="val 3483"/>
            </a:avLst>
          </a:prstGeom>
          <a:solidFill>
            <a:srgbClr val="FFFDF7"/>
          </a:solidFill>
          <a:ln w="6350">
            <a:solidFill>
              <a:srgbClr val="E0D8C6"/>
            </a:solidFill>
            <a:prstDash val="solid"/>
          </a:ln>
        </p:spPr>
        <p:txBody>
          <a:bodyPr/>
          <a:lstStyle/>
          <a:p>
            <a:endParaRPr lang="en-US"/>
          </a:p>
        </p:txBody>
      </p:sp>
      <p:sp>
        <p:nvSpPr>
          <p:cNvPr id="33" name="Text 31"/>
          <p:cNvSpPr/>
          <p:nvPr/>
        </p:nvSpPr>
        <p:spPr>
          <a:xfrm>
            <a:off x="6672659" y="2032000"/>
            <a:ext cx="4631900"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Self-ratings, mean of 5</a:t>
            </a:r>
            <a:endParaRPr lang="en-US" sz="1600" dirty="0"/>
          </a:p>
        </p:txBody>
      </p:sp>
      <p:sp>
        <p:nvSpPr>
          <p:cNvPr id="34" name="Text 32"/>
          <p:cNvSpPr/>
          <p:nvPr/>
        </p:nvSpPr>
        <p:spPr>
          <a:xfrm>
            <a:off x="6672659" y="2387600"/>
            <a:ext cx="2835831"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I know what would improve my diet</a:t>
            </a:r>
            <a:endParaRPr lang="en-US" sz="1200" dirty="0"/>
          </a:p>
        </p:txBody>
      </p:sp>
      <p:sp>
        <p:nvSpPr>
          <p:cNvPr id="35" name="Text 33"/>
          <p:cNvSpPr/>
          <p:nvPr/>
        </p:nvSpPr>
        <p:spPr>
          <a:xfrm>
            <a:off x="10813653" y="2387600"/>
            <a:ext cx="355997"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3.29</a:t>
            </a:r>
            <a:endParaRPr lang="en-US" sz="1200" dirty="0"/>
          </a:p>
        </p:txBody>
      </p:sp>
      <p:sp>
        <p:nvSpPr>
          <p:cNvPr id="36" name="Text 34"/>
          <p:cNvSpPr/>
          <p:nvPr/>
        </p:nvSpPr>
        <p:spPr>
          <a:xfrm>
            <a:off x="6672659" y="2711450"/>
            <a:ext cx="251079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My meals are usually balanced</a:t>
            </a:r>
            <a:endParaRPr lang="en-US" sz="1200" dirty="0"/>
          </a:p>
        </p:txBody>
      </p:sp>
      <p:sp>
        <p:nvSpPr>
          <p:cNvPr id="37" name="Text 35"/>
          <p:cNvSpPr/>
          <p:nvPr/>
        </p:nvSpPr>
        <p:spPr>
          <a:xfrm>
            <a:off x="10813653" y="2711450"/>
            <a:ext cx="355997"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3.23</a:t>
            </a:r>
            <a:endParaRPr lang="en-US" sz="1200" dirty="0"/>
          </a:p>
        </p:txBody>
      </p:sp>
      <p:sp>
        <p:nvSpPr>
          <p:cNvPr id="38" name="Text 36"/>
          <p:cNvSpPr/>
          <p:nvPr/>
        </p:nvSpPr>
        <p:spPr>
          <a:xfrm>
            <a:off x="6672659" y="3035300"/>
            <a:ext cx="4248157"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I know my daily calorie and protein needs (SD 1.24, widest spread)</a:t>
            </a:r>
            <a:endParaRPr lang="en-US" sz="1200" dirty="0"/>
          </a:p>
        </p:txBody>
      </p:sp>
      <p:sp>
        <p:nvSpPr>
          <p:cNvPr id="39" name="Text 37"/>
          <p:cNvSpPr/>
          <p:nvPr/>
        </p:nvSpPr>
        <p:spPr>
          <a:xfrm>
            <a:off x="10898684" y="3035300"/>
            <a:ext cx="321766" cy="44450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2.74</a:t>
            </a:r>
            <a:endParaRPr lang="en-US" sz="1200" dirty="0"/>
          </a:p>
        </p:txBody>
      </p:sp>
      <p:sp>
        <p:nvSpPr>
          <p:cNvPr id="40" name="Text 38"/>
          <p:cNvSpPr/>
          <p:nvPr/>
        </p:nvSpPr>
        <p:spPr>
          <a:xfrm>
            <a:off x="6672659" y="3568700"/>
            <a:ext cx="1626989"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I get enough protein</a:t>
            </a:r>
            <a:endParaRPr lang="en-US" sz="1200" dirty="0"/>
          </a:p>
        </p:txBody>
      </p:sp>
      <p:sp>
        <p:nvSpPr>
          <p:cNvPr id="41" name="Text 39"/>
          <p:cNvSpPr/>
          <p:nvPr/>
        </p:nvSpPr>
        <p:spPr>
          <a:xfrm>
            <a:off x="10813653" y="3568700"/>
            <a:ext cx="355997"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2.71</a:t>
            </a:r>
            <a:endParaRPr lang="en-US" sz="1200" dirty="0"/>
          </a:p>
        </p:txBody>
      </p:sp>
      <p:pic>
        <p:nvPicPr>
          <p:cNvPr id="42" name="Image 0" descr="line"/>
          <p:cNvPicPr>
            <a:picLocks noChangeAspect="1"/>
          </p:cNvPicPr>
          <p:nvPr/>
        </p:nvPicPr>
        <p:blipFill>
          <a:blip r:embed="rId3"/>
          <a:srcRect l="-16" r="-16"/>
          <a:stretch/>
        </p:blipFill>
        <p:spPr>
          <a:xfrm>
            <a:off x="6672659" y="3892550"/>
            <a:ext cx="4496991" cy="6350"/>
          </a:xfrm>
          <a:prstGeom prst="rect">
            <a:avLst/>
          </a:prstGeom>
        </p:spPr>
      </p:pic>
      <p:sp>
        <p:nvSpPr>
          <p:cNvPr id="43" name="Text 40"/>
          <p:cNvSpPr/>
          <p:nvPr/>
        </p:nvSpPr>
        <p:spPr>
          <a:xfrm>
            <a:off x="6672659" y="4013200"/>
            <a:ext cx="4631900"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1F2A24"/>
                </a:solidFill>
                <a:latin typeface="Arial" pitchFamily="34" charset="0"/>
                <a:ea typeface="Arial" pitchFamily="34" charset="-122"/>
                <a:cs typeface="Arial" pitchFamily="34" charset="-120"/>
              </a:rPr>
              <a:t>51% (18) worry about fibre or a micronutrient. Vegetarians and non-vegetarians flag protein about equally: 7 of 13 and 8 of 17.</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RESULTS · UNDERSTANDING NUTRITION</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Indian and mixed dishes are hardest</a:t>
            </a:r>
            <a:endParaRPr lang="en-US" sz="3200" dirty="0"/>
          </a:p>
        </p:txBody>
      </p:sp>
      <p:sp>
        <p:nvSpPr>
          <p:cNvPr id="4" name="Text 2"/>
          <p:cNvSpPr/>
          <p:nvPr/>
        </p:nvSpPr>
        <p:spPr>
          <a:xfrm>
            <a:off x="812800" y="1822450"/>
            <a:ext cx="6373104"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Find it moderately or very difficult</a:t>
            </a:r>
            <a:endParaRPr lang="en-US" sz="1200" dirty="0"/>
          </a:p>
        </p:txBody>
      </p:sp>
      <p:sp>
        <p:nvSpPr>
          <p:cNvPr id="5" name="Text 3"/>
          <p:cNvSpPr/>
          <p:nvPr/>
        </p:nvSpPr>
        <p:spPr>
          <a:xfrm>
            <a:off x="812800" y="2120900"/>
            <a:ext cx="215836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Mixed dishes (curry, khichdi)</a:t>
            </a:r>
            <a:endParaRPr lang="en-US" sz="1200" dirty="0"/>
          </a:p>
        </p:txBody>
      </p:sp>
      <p:sp>
        <p:nvSpPr>
          <p:cNvPr id="6" name="Shape 4"/>
          <p:cNvSpPr/>
          <p:nvPr/>
        </p:nvSpPr>
        <p:spPr>
          <a:xfrm>
            <a:off x="3009900" y="2136775"/>
            <a:ext cx="2501900" cy="177800"/>
          </a:xfrm>
          <a:prstGeom prst="roundRect">
            <a:avLst>
              <a:gd name="adj" fmla="val 14286"/>
            </a:avLst>
          </a:prstGeom>
          <a:solidFill>
            <a:srgbClr val="B5701A"/>
          </a:solidFill>
          <a:ln/>
        </p:spPr>
        <p:txBody>
          <a:bodyPr/>
          <a:lstStyle/>
          <a:p>
            <a:endParaRPr lang="en-US"/>
          </a:p>
        </p:txBody>
      </p:sp>
      <p:sp>
        <p:nvSpPr>
          <p:cNvPr id="7" name="Text 5"/>
          <p:cNvSpPr/>
          <p:nvPr/>
        </p:nvSpPr>
        <p:spPr>
          <a:xfrm>
            <a:off x="5613400" y="2120900"/>
            <a:ext cx="742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86% (30)</a:t>
            </a:r>
            <a:endParaRPr lang="en-US" sz="1200" dirty="0"/>
          </a:p>
        </p:txBody>
      </p:sp>
      <p:sp>
        <p:nvSpPr>
          <p:cNvPr id="8" name="Text 6"/>
          <p:cNvSpPr/>
          <p:nvPr/>
        </p:nvSpPr>
        <p:spPr>
          <a:xfrm>
            <a:off x="812800" y="2419350"/>
            <a:ext cx="215836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Values for Indian dishes</a:t>
            </a:r>
            <a:endParaRPr lang="en-US" sz="1200" dirty="0"/>
          </a:p>
        </p:txBody>
      </p:sp>
      <p:sp>
        <p:nvSpPr>
          <p:cNvPr id="9" name="Shape 7"/>
          <p:cNvSpPr/>
          <p:nvPr/>
        </p:nvSpPr>
        <p:spPr>
          <a:xfrm>
            <a:off x="3009900" y="2435225"/>
            <a:ext cx="2171700" cy="177800"/>
          </a:xfrm>
          <a:prstGeom prst="roundRect">
            <a:avLst>
              <a:gd name="adj" fmla="val 14286"/>
            </a:avLst>
          </a:prstGeom>
          <a:solidFill>
            <a:srgbClr val="B5701A"/>
          </a:solidFill>
          <a:ln/>
        </p:spPr>
        <p:txBody>
          <a:bodyPr/>
          <a:lstStyle/>
          <a:p>
            <a:endParaRPr lang="en-US"/>
          </a:p>
        </p:txBody>
      </p:sp>
      <p:sp>
        <p:nvSpPr>
          <p:cNvPr id="10" name="Text 8"/>
          <p:cNvSpPr/>
          <p:nvPr/>
        </p:nvSpPr>
        <p:spPr>
          <a:xfrm>
            <a:off x="5283200" y="2419350"/>
            <a:ext cx="742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74% (26)</a:t>
            </a:r>
            <a:endParaRPr lang="en-US" sz="1200" dirty="0"/>
          </a:p>
        </p:txBody>
      </p:sp>
      <p:sp>
        <p:nvSpPr>
          <p:cNvPr id="11" name="Text 9"/>
          <p:cNvSpPr/>
          <p:nvPr/>
        </p:nvSpPr>
        <p:spPr>
          <a:xfrm>
            <a:off x="812800" y="2717800"/>
            <a:ext cx="215836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Relating grams to the plate</a:t>
            </a:r>
            <a:endParaRPr lang="en-US" sz="1200" dirty="0"/>
          </a:p>
        </p:txBody>
      </p:sp>
      <p:sp>
        <p:nvSpPr>
          <p:cNvPr id="12" name="Shape 10"/>
          <p:cNvSpPr/>
          <p:nvPr/>
        </p:nvSpPr>
        <p:spPr>
          <a:xfrm>
            <a:off x="3009900" y="2733675"/>
            <a:ext cx="2012950" cy="177800"/>
          </a:xfrm>
          <a:prstGeom prst="roundRect">
            <a:avLst>
              <a:gd name="adj" fmla="val 14286"/>
            </a:avLst>
          </a:prstGeom>
          <a:solidFill>
            <a:srgbClr val="2F6B4F"/>
          </a:solidFill>
          <a:ln/>
        </p:spPr>
        <p:txBody>
          <a:bodyPr/>
          <a:lstStyle/>
          <a:p>
            <a:endParaRPr lang="en-US"/>
          </a:p>
        </p:txBody>
      </p:sp>
      <p:sp>
        <p:nvSpPr>
          <p:cNvPr id="13" name="Text 11"/>
          <p:cNvSpPr/>
          <p:nvPr/>
        </p:nvSpPr>
        <p:spPr>
          <a:xfrm>
            <a:off x="5124450" y="2717800"/>
            <a:ext cx="742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69% (24)</a:t>
            </a:r>
            <a:endParaRPr lang="en-US" sz="1200" dirty="0"/>
          </a:p>
        </p:txBody>
      </p:sp>
      <p:sp>
        <p:nvSpPr>
          <p:cNvPr id="14" name="Text 12"/>
          <p:cNvSpPr/>
          <p:nvPr/>
        </p:nvSpPr>
        <p:spPr>
          <a:xfrm>
            <a:off x="812800" y="3016250"/>
            <a:ext cx="215836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Calories in home food</a:t>
            </a:r>
            <a:endParaRPr lang="en-US" sz="1200" dirty="0"/>
          </a:p>
        </p:txBody>
      </p:sp>
      <p:sp>
        <p:nvSpPr>
          <p:cNvPr id="15" name="Shape 13"/>
          <p:cNvSpPr/>
          <p:nvPr/>
        </p:nvSpPr>
        <p:spPr>
          <a:xfrm>
            <a:off x="3009900" y="3032125"/>
            <a:ext cx="1930400" cy="177800"/>
          </a:xfrm>
          <a:prstGeom prst="roundRect">
            <a:avLst>
              <a:gd name="adj" fmla="val 14286"/>
            </a:avLst>
          </a:prstGeom>
          <a:solidFill>
            <a:srgbClr val="2F6B4F"/>
          </a:solidFill>
          <a:ln/>
        </p:spPr>
        <p:txBody>
          <a:bodyPr/>
          <a:lstStyle/>
          <a:p>
            <a:endParaRPr lang="en-US"/>
          </a:p>
        </p:txBody>
      </p:sp>
      <p:sp>
        <p:nvSpPr>
          <p:cNvPr id="16" name="Text 14"/>
          <p:cNvSpPr/>
          <p:nvPr/>
        </p:nvSpPr>
        <p:spPr>
          <a:xfrm>
            <a:off x="5041900" y="3016250"/>
            <a:ext cx="742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66% (23)</a:t>
            </a:r>
            <a:endParaRPr lang="en-US" sz="1200" dirty="0"/>
          </a:p>
        </p:txBody>
      </p:sp>
      <p:sp>
        <p:nvSpPr>
          <p:cNvPr id="17" name="Text 15"/>
          <p:cNvSpPr/>
          <p:nvPr/>
        </p:nvSpPr>
        <p:spPr>
          <a:xfrm>
            <a:off x="812800" y="3314700"/>
            <a:ext cx="215836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Judging portions by eye</a:t>
            </a:r>
            <a:endParaRPr lang="en-US" sz="1200" dirty="0"/>
          </a:p>
        </p:txBody>
      </p:sp>
      <p:sp>
        <p:nvSpPr>
          <p:cNvPr id="18" name="Shape 16"/>
          <p:cNvSpPr/>
          <p:nvPr/>
        </p:nvSpPr>
        <p:spPr>
          <a:xfrm>
            <a:off x="3009900" y="3330575"/>
            <a:ext cx="1752600" cy="177800"/>
          </a:xfrm>
          <a:prstGeom prst="roundRect">
            <a:avLst>
              <a:gd name="adj" fmla="val 14286"/>
            </a:avLst>
          </a:prstGeom>
          <a:solidFill>
            <a:srgbClr val="2F6B4F"/>
          </a:solidFill>
          <a:ln/>
        </p:spPr>
        <p:txBody>
          <a:bodyPr/>
          <a:lstStyle/>
          <a:p>
            <a:endParaRPr lang="en-US"/>
          </a:p>
        </p:txBody>
      </p:sp>
      <p:sp>
        <p:nvSpPr>
          <p:cNvPr id="19" name="Text 17"/>
          <p:cNvSpPr/>
          <p:nvPr/>
        </p:nvSpPr>
        <p:spPr>
          <a:xfrm>
            <a:off x="4864100" y="3314700"/>
            <a:ext cx="742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60% (21)</a:t>
            </a:r>
            <a:endParaRPr lang="en-US" sz="1200" dirty="0"/>
          </a:p>
        </p:txBody>
      </p:sp>
      <p:sp>
        <p:nvSpPr>
          <p:cNvPr id="20" name="Text 18"/>
          <p:cNvSpPr/>
          <p:nvPr/>
        </p:nvSpPr>
        <p:spPr>
          <a:xfrm>
            <a:off x="812800" y="3613150"/>
            <a:ext cx="215836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Meaning of macro values</a:t>
            </a:r>
            <a:endParaRPr lang="en-US" sz="1200" dirty="0"/>
          </a:p>
        </p:txBody>
      </p:sp>
      <p:sp>
        <p:nvSpPr>
          <p:cNvPr id="21" name="Shape 19"/>
          <p:cNvSpPr/>
          <p:nvPr/>
        </p:nvSpPr>
        <p:spPr>
          <a:xfrm>
            <a:off x="3009900" y="3629025"/>
            <a:ext cx="1339850" cy="177800"/>
          </a:xfrm>
          <a:prstGeom prst="roundRect">
            <a:avLst>
              <a:gd name="adj" fmla="val 14286"/>
            </a:avLst>
          </a:prstGeom>
          <a:solidFill>
            <a:srgbClr val="2F6B4F"/>
          </a:solidFill>
          <a:ln/>
        </p:spPr>
        <p:txBody>
          <a:bodyPr/>
          <a:lstStyle/>
          <a:p>
            <a:endParaRPr lang="en-US"/>
          </a:p>
        </p:txBody>
      </p:sp>
      <p:sp>
        <p:nvSpPr>
          <p:cNvPr id="22" name="Text 20"/>
          <p:cNvSpPr/>
          <p:nvPr/>
        </p:nvSpPr>
        <p:spPr>
          <a:xfrm>
            <a:off x="4451350" y="3613150"/>
            <a:ext cx="742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46% (16)</a:t>
            </a:r>
            <a:endParaRPr lang="en-US" sz="1200" dirty="0"/>
          </a:p>
        </p:txBody>
      </p:sp>
      <p:sp>
        <p:nvSpPr>
          <p:cNvPr id="23" name="Text 21"/>
          <p:cNvSpPr/>
          <p:nvPr/>
        </p:nvSpPr>
        <p:spPr>
          <a:xfrm>
            <a:off x="812800" y="3911600"/>
            <a:ext cx="2158365"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Reading food labels</a:t>
            </a:r>
            <a:endParaRPr lang="en-US" sz="1200" dirty="0"/>
          </a:p>
        </p:txBody>
      </p:sp>
      <p:sp>
        <p:nvSpPr>
          <p:cNvPr id="24" name="Shape 22"/>
          <p:cNvSpPr/>
          <p:nvPr/>
        </p:nvSpPr>
        <p:spPr>
          <a:xfrm>
            <a:off x="3009900" y="3927475"/>
            <a:ext cx="838200" cy="177800"/>
          </a:xfrm>
          <a:prstGeom prst="roundRect">
            <a:avLst>
              <a:gd name="adj" fmla="val 14286"/>
            </a:avLst>
          </a:prstGeom>
          <a:solidFill>
            <a:srgbClr val="B9C8BE"/>
          </a:solidFill>
          <a:ln/>
        </p:spPr>
        <p:txBody>
          <a:bodyPr/>
          <a:lstStyle/>
          <a:p>
            <a:endParaRPr lang="en-US"/>
          </a:p>
        </p:txBody>
      </p:sp>
      <p:sp>
        <p:nvSpPr>
          <p:cNvPr id="25" name="Text 23"/>
          <p:cNvSpPr/>
          <p:nvPr/>
        </p:nvSpPr>
        <p:spPr>
          <a:xfrm>
            <a:off x="3949700" y="3911600"/>
            <a:ext cx="742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29% (10)</a:t>
            </a:r>
            <a:endParaRPr lang="en-US" sz="1200" dirty="0"/>
          </a:p>
        </p:txBody>
      </p:sp>
      <p:sp>
        <p:nvSpPr>
          <p:cNvPr id="26" name="Shape 24"/>
          <p:cNvSpPr/>
          <p:nvPr/>
        </p:nvSpPr>
        <p:spPr>
          <a:xfrm>
            <a:off x="7257455" y="1825625"/>
            <a:ext cx="4118570" cy="1143000"/>
          </a:xfrm>
          <a:prstGeom prst="roundRect">
            <a:avLst>
              <a:gd name="adj" fmla="val 8611"/>
            </a:avLst>
          </a:prstGeom>
          <a:solidFill>
            <a:srgbClr val="FFFDF7"/>
          </a:solidFill>
          <a:ln w="6350">
            <a:solidFill>
              <a:srgbClr val="E0D8C6"/>
            </a:solidFill>
            <a:prstDash val="solid"/>
          </a:ln>
        </p:spPr>
        <p:txBody>
          <a:bodyPr/>
          <a:lstStyle/>
          <a:p>
            <a:endParaRPr lang="en-US"/>
          </a:p>
        </p:txBody>
      </p:sp>
      <p:sp>
        <p:nvSpPr>
          <p:cNvPr id="27" name="Text 25"/>
          <p:cNvSpPr/>
          <p:nvPr/>
        </p:nvSpPr>
        <p:spPr>
          <a:xfrm>
            <a:off x="7463830" y="1981200"/>
            <a:ext cx="3816995"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43%</a:t>
            </a:r>
            <a:endParaRPr lang="en-US" sz="2200" dirty="0"/>
          </a:p>
        </p:txBody>
      </p:sp>
      <p:sp>
        <p:nvSpPr>
          <p:cNvPr id="28" name="Text 26"/>
          <p:cNvSpPr/>
          <p:nvPr/>
        </p:nvSpPr>
        <p:spPr>
          <a:xfrm>
            <a:off x="7463830" y="2393950"/>
            <a:ext cx="3816995"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think of quantity in roti, katori or cups (15); only 4 think in grams</a:t>
            </a:r>
            <a:endParaRPr lang="en-US" sz="1200" dirty="0"/>
          </a:p>
        </p:txBody>
      </p:sp>
      <p:sp>
        <p:nvSpPr>
          <p:cNvPr id="29" name="Shape 27"/>
          <p:cNvSpPr/>
          <p:nvPr/>
        </p:nvSpPr>
        <p:spPr>
          <a:xfrm>
            <a:off x="7257455" y="3076575"/>
            <a:ext cx="4118570" cy="1143000"/>
          </a:xfrm>
          <a:prstGeom prst="roundRect">
            <a:avLst>
              <a:gd name="adj" fmla="val 8611"/>
            </a:avLst>
          </a:prstGeom>
          <a:solidFill>
            <a:srgbClr val="FFFDF7"/>
          </a:solidFill>
          <a:ln w="6350">
            <a:solidFill>
              <a:srgbClr val="E0D8C6"/>
            </a:solidFill>
            <a:prstDash val="solid"/>
          </a:ln>
        </p:spPr>
        <p:txBody>
          <a:bodyPr/>
          <a:lstStyle/>
          <a:p>
            <a:endParaRPr lang="en-US"/>
          </a:p>
        </p:txBody>
      </p:sp>
      <p:sp>
        <p:nvSpPr>
          <p:cNvPr id="30" name="Text 28"/>
          <p:cNvSpPr/>
          <p:nvPr/>
        </p:nvSpPr>
        <p:spPr>
          <a:xfrm>
            <a:off x="7463830" y="3232150"/>
            <a:ext cx="3816995"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56%</a:t>
            </a:r>
            <a:endParaRPr lang="en-US" sz="2200" dirty="0"/>
          </a:p>
        </p:txBody>
      </p:sp>
      <p:sp>
        <p:nvSpPr>
          <p:cNvPr id="31" name="Text 29"/>
          <p:cNvSpPr/>
          <p:nvPr/>
        </p:nvSpPr>
        <p:spPr>
          <a:xfrm>
            <a:off x="7463830" y="3644900"/>
            <a:ext cx="3816995"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have little or no confidence in the nutrition information they find (18 of 32)</a:t>
            </a:r>
            <a:endParaRPr lang="en-US" sz="1200" dirty="0"/>
          </a:p>
        </p:txBody>
      </p:sp>
      <p:sp>
        <p:nvSpPr>
          <p:cNvPr id="32" name="Shape 30"/>
          <p:cNvSpPr/>
          <p:nvPr/>
        </p:nvSpPr>
        <p:spPr>
          <a:xfrm>
            <a:off x="7257455" y="4327525"/>
            <a:ext cx="4118570" cy="965200"/>
          </a:xfrm>
          <a:prstGeom prst="roundRect">
            <a:avLst>
              <a:gd name="adj" fmla="val 10197"/>
            </a:avLst>
          </a:prstGeom>
          <a:solidFill>
            <a:srgbClr val="FFFDF7"/>
          </a:solidFill>
          <a:ln w="6350">
            <a:solidFill>
              <a:srgbClr val="E0D8C6"/>
            </a:solidFill>
            <a:prstDash val="solid"/>
          </a:ln>
        </p:spPr>
        <p:txBody>
          <a:bodyPr/>
          <a:lstStyle/>
          <a:p>
            <a:endParaRPr lang="en-US"/>
          </a:p>
        </p:txBody>
      </p:sp>
      <p:sp>
        <p:nvSpPr>
          <p:cNvPr id="33" name="Text 31"/>
          <p:cNvSpPr/>
          <p:nvPr/>
        </p:nvSpPr>
        <p:spPr>
          <a:xfrm>
            <a:off x="7463830" y="4483100"/>
            <a:ext cx="3816995"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Main sources</a:t>
            </a:r>
            <a:endParaRPr lang="en-US" sz="1200" dirty="0"/>
          </a:p>
        </p:txBody>
      </p:sp>
      <p:sp>
        <p:nvSpPr>
          <p:cNvPr id="34" name="Text 32"/>
          <p:cNvSpPr/>
          <p:nvPr/>
        </p:nvSpPr>
        <p:spPr>
          <a:xfrm>
            <a:off x="7463830" y="4718050"/>
            <a:ext cx="3816995" cy="44450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Google 19, YouTube or Instagram 12, a nutrition app 11, labels 8, AI chatbots 6, a professional 5</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RESULTS · EXISTING APPS</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Slow logging pushes people away</a:t>
            </a:r>
            <a:endParaRPr lang="en-US" sz="3200" dirty="0"/>
          </a:p>
        </p:txBody>
      </p:sp>
      <p:sp>
        <p:nvSpPr>
          <p:cNvPr id="4" name="Shape 2"/>
          <p:cNvSpPr/>
          <p:nvPr/>
        </p:nvSpPr>
        <p:spPr>
          <a:xfrm>
            <a:off x="815975" y="1825625"/>
            <a:ext cx="3187204" cy="3117850"/>
          </a:xfrm>
          <a:prstGeom prst="roundRect">
            <a:avLst>
              <a:gd name="adj" fmla="val 3157"/>
            </a:avLst>
          </a:prstGeom>
          <a:solidFill>
            <a:srgbClr val="FFFDF7"/>
          </a:solidFill>
          <a:ln w="6350">
            <a:solidFill>
              <a:srgbClr val="E0D8C6"/>
            </a:solidFill>
            <a:prstDash val="solid"/>
          </a:ln>
        </p:spPr>
        <p:txBody>
          <a:bodyPr/>
          <a:lstStyle/>
          <a:p>
            <a:endParaRPr lang="en-US"/>
          </a:p>
        </p:txBody>
      </p:sp>
      <p:sp>
        <p:nvSpPr>
          <p:cNvPr id="5" name="Text 3"/>
          <p:cNvSpPr/>
          <p:nvPr/>
        </p:nvSpPr>
        <p:spPr>
          <a:xfrm>
            <a:off x="1022350" y="2032000"/>
            <a:ext cx="2857688"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B5701A"/>
                </a:solidFill>
                <a:latin typeface="Georgia" pitchFamily="18" charset="0"/>
                <a:ea typeface="Georgia" pitchFamily="18" charset="-122"/>
                <a:cs typeface="Georgia" pitchFamily="18" charset="-120"/>
              </a:rPr>
              <a:t>20 of 35</a:t>
            </a:r>
            <a:endParaRPr lang="en-US" sz="3200" dirty="0"/>
          </a:p>
        </p:txBody>
      </p:sp>
      <p:sp>
        <p:nvSpPr>
          <p:cNvPr id="6" name="Text 4"/>
          <p:cNvSpPr/>
          <p:nvPr/>
        </p:nvSpPr>
        <p:spPr>
          <a:xfrm>
            <a:off x="1022350" y="2552700"/>
            <a:ext cx="2857688"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have used a food-tracking app</a:t>
            </a:r>
            <a:endParaRPr lang="en-US" sz="1200" dirty="0"/>
          </a:p>
        </p:txBody>
      </p:sp>
      <p:sp>
        <p:nvSpPr>
          <p:cNvPr id="7" name="Text 5"/>
          <p:cNvSpPr/>
          <p:nvPr/>
        </p:nvSpPr>
        <p:spPr>
          <a:xfrm>
            <a:off x="1022350" y="2838450"/>
            <a:ext cx="1067514"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Use one now</a:t>
            </a:r>
            <a:endParaRPr lang="en-US" sz="1200" dirty="0"/>
          </a:p>
        </p:txBody>
      </p:sp>
      <p:sp>
        <p:nvSpPr>
          <p:cNvPr id="8" name="Text 6"/>
          <p:cNvSpPr/>
          <p:nvPr/>
        </p:nvSpPr>
        <p:spPr>
          <a:xfrm>
            <a:off x="3661172" y="2838450"/>
            <a:ext cx="135632"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8</a:t>
            </a:r>
            <a:endParaRPr lang="en-US" sz="1200" dirty="0"/>
          </a:p>
        </p:txBody>
      </p:sp>
      <p:sp>
        <p:nvSpPr>
          <p:cNvPr id="9" name="Text 7"/>
          <p:cNvSpPr/>
          <p:nvPr/>
        </p:nvSpPr>
        <p:spPr>
          <a:xfrm>
            <a:off x="1022350" y="3124200"/>
            <a:ext cx="1535311"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Used one, stopped</a:t>
            </a:r>
            <a:endParaRPr lang="en-US" sz="1200" dirty="0"/>
          </a:p>
        </p:txBody>
      </p:sp>
      <p:sp>
        <p:nvSpPr>
          <p:cNvPr id="10" name="Text 8"/>
          <p:cNvSpPr/>
          <p:nvPr/>
        </p:nvSpPr>
        <p:spPr>
          <a:xfrm>
            <a:off x="3576439" y="3124200"/>
            <a:ext cx="220365"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12</a:t>
            </a:r>
            <a:endParaRPr lang="en-US" sz="1200" dirty="0"/>
          </a:p>
        </p:txBody>
      </p:sp>
      <p:sp>
        <p:nvSpPr>
          <p:cNvPr id="11" name="Text 9"/>
          <p:cNvSpPr/>
          <p:nvPr/>
        </p:nvSpPr>
        <p:spPr>
          <a:xfrm>
            <a:off x="1022350" y="3409950"/>
            <a:ext cx="1291233"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Never used one</a:t>
            </a:r>
            <a:endParaRPr lang="en-US" sz="1200" dirty="0"/>
          </a:p>
        </p:txBody>
      </p:sp>
      <p:sp>
        <p:nvSpPr>
          <p:cNvPr id="12" name="Text 10"/>
          <p:cNvSpPr/>
          <p:nvPr/>
        </p:nvSpPr>
        <p:spPr>
          <a:xfrm>
            <a:off x="3576439" y="3409950"/>
            <a:ext cx="220365"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15</a:t>
            </a:r>
            <a:endParaRPr lang="en-US" sz="1200" dirty="0"/>
          </a:p>
        </p:txBody>
      </p:sp>
      <p:pic>
        <p:nvPicPr>
          <p:cNvPr id="13" name="Image 0" descr="line"/>
          <p:cNvPicPr>
            <a:picLocks noChangeAspect="1"/>
          </p:cNvPicPr>
          <p:nvPr/>
        </p:nvPicPr>
        <p:blipFill>
          <a:blip r:embed="rId3"/>
          <a:srcRect t="-8" b="-8"/>
          <a:stretch/>
        </p:blipFill>
        <p:spPr>
          <a:xfrm>
            <a:off x="1022350" y="3695700"/>
            <a:ext cx="2774454" cy="6350"/>
          </a:xfrm>
          <a:prstGeom prst="rect">
            <a:avLst/>
          </a:prstGeom>
        </p:spPr>
      </p:pic>
      <p:sp>
        <p:nvSpPr>
          <p:cNvPr id="14" name="Text 11"/>
          <p:cNvSpPr/>
          <p:nvPr/>
        </p:nvSpPr>
        <p:spPr>
          <a:xfrm>
            <a:off x="1022350" y="3778250"/>
            <a:ext cx="2857688" cy="6731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Most used: HealthifyMe 11, MyFitnessPal 6. Satisfaction 3.00 of 5: current users 3.88, former users 2.42.</a:t>
            </a:r>
            <a:endParaRPr lang="en-US" sz="1200" dirty="0"/>
          </a:p>
        </p:txBody>
      </p:sp>
      <p:sp>
        <p:nvSpPr>
          <p:cNvPr id="15" name="Shape 12"/>
          <p:cNvSpPr/>
          <p:nvPr/>
        </p:nvSpPr>
        <p:spPr>
          <a:xfrm>
            <a:off x="4161929" y="1825625"/>
            <a:ext cx="3880842" cy="3117850"/>
          </a:xfrm>
          <a:prstGeom prst="roundRect">
            <a:avLst>
              <a:gd name="adj" fmla="val 3157"/>
            </a:avLst>
          </a:prstGeom>
          <a:solidFill>
            <a:srgbClr val="FFFDF7"/>
          </a:solidFill>
          <a:ln w="6350">
            <a:solidFill>
              <a:srgbClr val="E0D8C6"/>
            </a:solidFill>
            <a:prstDash val="solid"/>
          </a:ln>
        </p:spPr>
        <p:txBody>
          <a:bodyPr/>
          <a:lstStyle/>
          <a:p>
            <a:endParaRPr lang="en-US"/>
          </a:p>
        </p:txBody>
      </p:sp>
      <p:sp>
        <p:nvSpPr>
          <p:cNvPr id="16" name="Text 13"/>
          <p:cNvSpPr/>
          <p:nvPr/>
        </p:nvSpPr>
        <p:spPr>
          <a:xfrm>
            <a:off x="4368304" y="2032000"/>
            <a:ext cx="3572135"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Agree, of 20 app users</a:t>
            </a:r>
            <a:endParaRPr lang="en-US" sz="1600" dirty="0"/>
          </a:p>
        </p:txBody>
      </p:sp>
      <p:sp>
        <p:nvSpPr>
          <p:cNvPr id="17" name="Text 14"/>
          <p:cNvSpPr/>
          <p:nvPr/>
        </p:nvSpPr>
        <p:spPr>
          <a:xfrm>
            <a:off x="4368304" y="2362200"/>
            <a:ext cx="16383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Logging too slow</a:t>
            </a:r>
            <a:endParaRPr lang="en-US" sz="1200" dirty="0"/>
          </a:p>
        </p:txBody>
      </p:sp>
      <p:sp>
        <p:nvSpPr>
          <p:cNvPr id="18" name="Shape 15"/>
          <p:cNvSpPr/>
          <p:nvPr/>
        </p:nvSpPr>
        <p:spPr>
          <a:xfrm>
            <a:off x="6057404" y="2378075"/>
            <a:ext cx="1270000" cy="177800"/>
          </a:xfrm>
          <a:prstGeom prst="roundRect">
            <a:avLst>
              <a:gd name="adj" fmla="val 14286"/>
            </a:avLst>
          </a:prstGeom>
          <a:solidFill>
            <a:srgbClr val="B5701A"/>
          </a:solidFill>
          <a:ln/>
        </p:spPr>
        <p:txBody>
          <a:bodyPr/>
          <a:lstStyle/>
          <a:p>
            <a:endParaRPr lang="en-US"/>
          </a:p>
        </p:txBody>
      </p:sp>
      <p:sp>
        <p:nvSpPr>
          <p:cNvPr id="19" name="Text 16"/>
          <p:cNvSpPr/>
          <p:nvPr/>
        </p:nvSpPr>
        <p:spPr>
          <a:xfrm>
            <a:off x="7429004" y="2362200"/>
            <a:ext cx="366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60%</a:t>
            </a:r>
            <a:endParaRPr lang="en-US" sz="1200" dirty="0"/>
          </a:p>
        </p:txBody>
      </p:sp>
      <p:sp>
        <p:nvSpPr>
          <p:cNvPr id="20" name="Text 17"/>
          <p:cNvSpPr/>
          <p:nvPr/>
        </p:nvSpPr>
        <p:spPr>
          <a:xfrm>
            <a:off x="4368304" y="2660650"/>
            <a:ext cx="16383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Paid features locked</a:t>
            </a:r>
            <a:endParaRPr lang="en-US" sz="1200" dirty="0"/>
          </a:p>
        </p:txBody>
      </p:sp>
      <p:sp>
        <p:nvSpPr>
          <p:cNvPr id="21" name="Shape 18"/>
          <p:cNvSpPr/>
          <p:nvPr/>
        </p:nvSpPr>
        <p:spPr>
          <a:xfrm>
            <a:off x="6057404" y="2676525"/>
            <a:ext cx="1162050" cy="177800"/>
          </a:xfrm>
          <a:prstGeom prst="roundRect">
            <a:avLst>
              <a:gd name="adj" fmla="val 14286"/>
            </a:avLst>
          </a:prstGeom>
          <a:solidFill>
            <a:srgbClr val="B5701A"/>
          </a:solidFill>
          <a:ln/>
        </p:spPr>
        <p:txBody>
          <a:bodyPr/>
          <a:lstStyle/>
          <a:p>
            <a:endParaRPr lang="en-US"/>
          </a:p>
        </p:txBody>
      </p:sp>
      <p:sp>
        <p:nvSpPr>
          <p:cNvPr id="22" name="Text 19"/>
          <p:cNvSpPr/>
          <p:nvPr/>
        </p:nvSpPr>
        <p:spPr>
          <a:xfrm>
            <a:off x="7321054" y="2660650"/>
            <a:ext cx="366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55%</a:t>
            </a:r>
            <a:endParaRPr lang="en-US" sz="1200" dirty="0"/>
          </a:p>
        </p:txBody>
      </p:sp>
      <p:sp>
        <p:nvSpPr>
          <p:cNvPr id="23" name="Text 20"/>
          <p:cNvSpPr/>
          <p:nvPr/>
        </p:nvSpPr>
        <p:spPr>
          <a:xfrm>
            <a:off x="4368304" y="2959100"/>
            <a:ext cx="16383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Indian dishes missing</a:t>
            </a:r>
            <a:endParaRPr lang="en-US" sz="1200" dirty="0"/>
          </a:p>
        </p:txBody>
      </p:sp>
      <p:sp>
        <p:nvSpPr>
          <p:cNvPr id="24" name="Shape 21"/>
          <p:cNvSpPr/>
          <p:nvPr/>
        </p:nvSpPr>
        <p:spPr>
          <a:xfrm>
            <a:off x="6057404" y="2974975"/>
            <a:ext cx="742950" cy="177800"/>
          </a:xfrm>
          <a:prstGeom prst="roundRect">
            <a:avLst>
              <a:gd name="adj" fmla="val 14286"/>
            </a:avLst>
          </a:prstGeom>
          <a:solidFill>
            <a:srgbClr val="2F6B4F"/>
          </a:solidFill>
          <a:ln/>
        </p:spPr>
        <p:txBody>
          <a:bodyPr/>
          <a:lstStyle/>
          <a:p>
            <a:endParaRPr lang="en-US"/>
          </a:p>
        </p:txBody>
      </p:sp>
      <p:sp>
        <p:nvSpPr>
          <p:cNvPr id="25" name="Text 22"/>
          <p:cNvSpPr/>
          <p:nvPr/>
        </p:nvSpPr>
        <p:spPr>
          <a:xfrm>
            <a:off x="6901954" y="2959100"/>
            <a:ext cx="366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35%</a:t>
            </a:r>
            <a:endParaRPr lang="en-US" sz="1200" dirty="0"/>
          </a:p>
        </p:txBody>
      </p:sp>
      <p:sp>
        <p:nvSpPr>
          <p:cNvPr id="26" name="Text 23"/>
          <p:cNvSpPr/>
          <p:nvPr/>
        </p:nvSpPr>
        <p:spPr>
          <a:xfrm>
            <a:off x="4368304" y="3257550"/>
            <a:ext cx="16383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Forget to log</a:t>
            </a:r>
            <a:endParaRPr lang="en-US" sz="1200" dirty="0"/>
          </a:p>
        </p:txBody>
      </p:sp>
      <p:sp>
        <p:nvSpPr>
          <p:cNvPr id="27" name="Shape 24"/>
          <p:cNvSpPr/>
          <p:nvPr/>
        </p:nvSpPr>
        <p:spPr>
          <a:xfrm>
            <a:off x="6057404" y="3273425"/>
            <a:ext cx="635000" cy="177800"/>
          </a:xfrm>
          <a:prstGeom prst="roundRect">
            <a:avLst>
              <a:gd name="adj" fmla="val 14286"/>
            </a:avLst>
          </a:prstGeom>
          <a:solidFill>
            <a:srgbClr val="2F6B4F"/>
          </a:solidFill>
          <a:ln/>
        </p:spPr>
        <p:txBody>
          <a:bodyPr/>
          <a:lstStyle/>
          <a:p>
            <a:endParaRPr lang="en-US"/>
          </a:p>
        </p:txBody>
      </p:sp>
      <p:sp>
        <p:nvSpPr>
          <p:cNvPr id="28" name="Text 25"/>
          <p:cNvSpPr/>
          <p:nvPr/>
        </p:nvSpPr>
        <p:spPr>
          <a:xfrm>
            <a:off x="6794004" y="3257550"/>
            <a:ext cx="366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30%</a:t>
            </a:r>
            <a:endParaRPr lang="en-US" sz="1200" dirty="0"/>
          </a:p>
        </p:txBody>
      </p:sp>
      <p:sp>
        <p:nvSpPr>
          <p:cNvPr id="29" name="Text 26"/>
          <p:cNvSpPr/>
          <p:nvPr/>
        </p:nvSpPr>
        <p:spPr>
          <a:xfrm>
            <a:off x="4368304" y="3556000"/>
            <a:ext cx="16383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Confusing portions</a:t>
            </a:r>
            <a:endParaRPr lang="en-US" sz="1200" dirty="0"/>
          </a:p>
        </p:txBody>
      </p:sp>
      <p:sp>
        <p:nvSpPr>
          <p:cNvPr id="30" name="Shape 27"/>
          <p:cNvSpPr/>
          <p:nvPr/>
        </p:nvSpPr>
        <p:spPr>
          <a:xfrm>
            <a:off x="6057404" y="3571875"/>
            <a:ext cx="527050" cy="177800"/>
          </a:xfrm>
          <a:prstGeom prst="roundRect">
            <a:avLst>
              <a:gd name="adj" fmla="val 14286"/>
            </a:avLst>
          </a:prstGeom>
          <a:solidFill>
            <a:srgbClr val="2F6B4F"/>
          </a:solidFill>
          <a:ln/>
        </p:spPr>
        <p:txBody>
          <a:bodyPr/>
          <a:lstStyle/>
          <a:p>
            <a:endParaRPr lang="en-US"/>
          </a:p>
        </p:txBody>
      </p:sp>
      <p:sp>
        <p:nvSpPr>
          <p:cNvPr id="31" name="Text 28"/>
          <p:cNvSpPr/>
          <p:nvPr/>
        </p:nvSpPr>
        <p:spPr>
          <a:xfrm>
            <a:off x="6686054" y="3556000"/>
            <a:ext cx="366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25%</a:t>
            </a:r>
            <a:endParaRPr lang="en-US" sz="1200" dirty="0"/>
          </a:p>
        </p:txBody>
      </p:sp>
      <p:sp>
        <p:nvSpPr>
          <p:cNvPr id="32" name="Text 29"/>
          <p:cNvSpPr/>
          <p:nvPr/>
        </p:nvSpPr>
        <p:spPr>
          <a:xfrm>
            <a:off x="4368304" y="3854450"/>
            <a:ext cx="16383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Distrust the numbers</a:t>
            </a:r>
            <a:endParaRPr lang="en-US" sz="1200" dirty="0"/>
          </a:p>
        </p:txBody>
      </p:sp>
      <p:sp>
        <p:nvSpPr>
          <p:cNvPr id="33" name="Shape 30"/>
          <p:cNvSpPr/>
          <p:nvPr/>
        </p:nvSpPr>
        <p:spPr>
          <a:xfrm>
            <a:off x="6057404" y="3870325"/>
            <a:ext cx="527050" cy="177800"/>
          </a:xfrm>
          <a:prstGeom prst="roundRect">
            <a:avLst>
              <a:gd name="adj" fmla="val 14286"/>
            </a:avLst>
          </a:prstGeom>
          <a:solidFill>
            <a:srgbClr val="2F6B4F"/>
          </a:solidFill>
          <a:ln/>
        </p:spPr>
        <p:txBody>
          <a:bodyPr/>
          <a:lstStyle/>
          <a:p>
            <a:endParaRPr lang="en-US"/>
          </a:p>
        </p:txBody>
      </p:sp>
      <p:sp>
        <p:nvSpPr>
          <p:cNvPr id="34" name="Text 31"/>
          <p:cNvSpPr/>
          <p:nvPr/>
        </p:nvSpPr>
        <p:spPr>
          <a:xfrm>
            <a:off x="6686054" y="3854450"/>
            <a:ext cx="366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25%</a:t>
            </a:r>
            <a:endParaRPr lang="en-US" sz="1200" dirty="0"/>
          </a:p>
        </p:txBody>
      </p:sp>
      <p:sp>
        <p:nvSpPr>
          <p:cNvPr id="35" name="Text 32"/>
          <p:cNvSpPr/>
          <p:nvPr/>
        </p:nvSpPr>
        <p:spPr>
          <a:xfrm>
            <a:off x="4368304" y="4152900"/>
            <a:ext cx="163830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Data privacy worry</a:t>
            </a:r>
            <a:endParaRPr lang="en-US" sz="1200" dirty="0"/>
          </a:p>
        </p:txBody>
      </p:sp>
      <p:sp>
        <p:nvSpPr>
          <p:cNvPr id="36" name="Shape 33"/>
          <p:cNvSpPr/>
          <p:nvPr/>
        </p:nvSpPr>
        <p:spPr>
          <a:xfrm>
            <a:off x="6057404" y="4168775"/>
            <a:ext cx="107950" cy="177800"/>
          </a:xfrm>
          <a:prstGeom prst="roundRect">
            <a:avLst>
              <a:gd name="adj" fmla="val 23529"/>
            </a:avLst>
          </a:prstGeom>
          <a:solidFill>
            <a:srgbClr val="B9C8BE"/>
          </a:solidFill>
          <a:ln/>
        </p:spPr>
        <p:txBody>
          <a:bodyPr/>
          <a:lstStyle/>
          <a:p>
            <a:endParaRPr lang="en-US"/>
          </a:p>
        </p:txBody>
      </p:sp>
      <p:sp>
        <p:nvSpPr>
          <p:cNvPr id="37" name="Text 34"/>
          <p:cNvSpPr/>
          <p:nvPr/>
        </p:nvSpPr>
        <p:spPr>
          <a:xfrm>
            <a:off x="6266954" y="4152900"/>
            <a:ext cx="271066"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5%</a:t>
            </a:r>
            <a:endParaRPr lang="en-US" sz="1200" dirty="0"/>
          </a:p>
        </p:txBody>
      </p:sp>
      <p:sp>
        <p:nvSpPr>
          <p:cNvPr id="38" name="Shape 35"/>
          <p:cNvSpPr/>
          <p:nvPr/>
        </p:nvSpPr>
        <p:spPr>
          <a:xfrm>
            <a:off x="8198346" y="1822450"/>
            <a:ext cx="3180854" cy="3124200"/>
          </a:xfrm>
          <a:prstGeom prst="roundRect">
            <a:avLst>
              <a:gd name="adj" fmla="val 3252"/>
            </a:avLst>
          </a:prstGeom>
          <a:solidFill>
            <a:srgbClr val="EDE7D9"/>
          </a:solidFill>
          <a:ln/>
        </p:spPr>
        <p:txBody>
          <a:bodyPr/>
          <a:lstStyle/>
          <a:p>
            <a:endParaRPr lang="en-US"/>
          </a:p>
        </p:txBody>
      </p:sp>
      <p:sp>
        <p:nvSpPr>
          <p:cNvPr id="39" name="Text 36"/>
          <p:cNvSpPr/>
          <p:nvPr/>
        </p:nvSpPr>
        <p:spPr>
          <a:xfrm>
            <a:off x="8401546" y="2025650"/>
            <a:ext cx="2857688" cy="5080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Why they stop or never start</a:t>
            </a:r>
            <a:endParaRPr lang="en-US" sz="1600" dirty="0"/>
          </a:p>
        </p:txBody>
      </p:sp>
      <p:sp>
        <p:nvSpPr>
          <p:cNvPr id="40" name="Text 37"/>
          <p:cNvSpPr/>
          <p:nvPr/>
        </p:nvSpPr>
        <p:spPr>
          <a:xfrm>
            <a:off x="8401546" y="2584450"/>
            <a:ext cx="2857688"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Former users (12)</a:t>
            </a:r>
            <a:endParaRPr lang="en-US" sz="1200" dirty="0"/>
          </a:p>
        </p:txBody>
      </p:sp>
      <p:sp>
        <p:nvSpPr>
          <p:cNvPr id="41" name="Text 38"/>
          <p:cNvSpPr/>
          <p:nvPr/>
        </p:nvSpPr>
        <p:spPr>
          <a:xfrm>
            <a:off x="8401546" y="2870200"/>
            <a:ext cx="2857688" cy="8890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Half quit because logging got tedious (3) or they forgot (3). Missing foods 2; goal reached, distrust, paywall and privacy 1 each.</a:t>
            </a:r>
            <a:endParaRPr lang="en-US" sz="1200" dirty="0"/>
          </a:p>
        </p:txBody>
      </p:sp>
      <p:sp>
        <p:nvSpPr>
          <p:cNvPr id="42" name="Text 39"/>
          <p:cNvSpPr/>
          <p:nvPr/>
        </p:nvSpPr>
        <p:spPr>
          <a:xfrm>
            <a:off x="8401546" y="3810000"/>
            <a:ext cx="2857688"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Never-users (15)</a:t>
            </a:r>
            <a:endParaRPr lang="en-US" sz="1200" dirty="0"/>
          </a:p>
        </p:txBody>
      </p:sp>
      <p:sp>
        <p:nvSpPr>
          <p:cNvPr id="43" name="Text 40"/>
          <p:cNvSpPr/>
          <p:nvPr/>
        </p:nvSpPr>
        <p:spPr>
          <a:xfrm>
            <a:off x="8401546" y="4095750"/>
            <a:ext cx="2857688" cy="6731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Don’t feel the need 8, seems time-consuming 7, didn’t know about apps 5, doubt accuracy 3.</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RESULTS · DESIRED FEATURES</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Photos, Indian food and katoris</a:t>
            </a:r>
            <a:endParaRPr lang="en-US" sz="3200" dirty="0"/>
          </a:p>
        </p:txBody>
      </p:sp>
      <p:sp>
        <p:nvSpPr>
          <p:cNvPr id="4" name="Text 2"/>
          <p:cNvSpPr/>
          <p:nvPr/>
        </p:nvSpPr>
        <p:spPr>
          <a:xfrm>
            <a:off x="812800" y="1822450"/>
            <a:ext cx="6114039"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3A2E"/>
                </a:solidFill>
                <a:latin typeface="Arial" pitchFamily="34" charset="0"/>
                <a:ea typeface="Arial" pitchFamily="34" charset="-122"/>
                <a:cs typeface="Arial" pitchFamily="34" charset="-120"/>
              </a:rPr>
              <a:t>Picked in their top three features (each person chose 3)</a:t>
            </a:r>
            <a:endParaRPr lang="en-US" sz="1200" dirty="0"/>
          </a:p>
        </p:txBody>
      </p:sp>
      <p:sp>
        <p:nvSpPr>
          <p:cNvPr id="5" name="Text 3"/>
          <p:cNvSpPr/>
          <p:nvPr/>
        </p:nvSpPr>
        <p:spPr>
          <a:xfrm>
            <a:off x="812800" y="2133600"/>
            <a:ext cx="235458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Photo of a meal</a:t>
            </a:r>
            <a:endParaRPr lang="en-US" sz="1200" dirty="0"/>
          </a:p>
        </p:txBody>
      </p:sp>
      <p:sp>
        <p:nvSpPr>
          <p:cNvPr id="6" name="Shape 4"/>
          <p:cNvSpPr/>
          <p:nvPr/>
        </p:nvSpPr>
        <p:spPr>
          <a:xfrm>
            <a:off x="3200400" y="2136775"/>
            <a:ext cx="2540000" cy="203200"/>
          </a:xfrm>
          <a:prstGeom prst="roundRect">
            <a:avLst>
              <a:gd name="adj" fmla="val 12500"/>
            </a:avLst>
          </a:prstGeom>
          <a:solidFill>
            <a:srgbClr val="B5701A"/>
          </a:solidFill>
          <a:ln/>
        </p:spPr>
        <p:txBody>
          <a:bodyPr/>
          <a:lstStyle/>
          <a:p>
            <a:endParaRPr lang="en-US"/>
          </a:p>
        </p:txBody>
      </p:sp>
      <p:sp>
        <p:nvSpPr>
          <p:cNvPr id="7" name="Text 5"/>
          <p:cNvSpPr/>
          <p:nvPr/>
        </p:nvSpPr>
        <p:spPr>
          <a:xfrm>
            <a:off x="5842000" y="2133600"/>
            <a:ext cx="742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15 (43%)</a:t>
            </a:r>
            <a:endParaRPr lang="en-US" sz="1200" dirty="0"/>
          </a:p>
        </p:txBody>
      </p:sp>
      <p:sp>
        <p:nvSpPr>
          <p:cNvPr id="8" name="Text 6"/>
          <p:cNvSpPr/>
          <p:nvPr/>
        </p:nvSpPr>
        <p:spPr>
          <a:xfrm>
            <a:off x="812800" y="2444750"/>
            <a:ext cx="235458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Indian and home dishes</a:t>
            </a:r>
            <a:endParaRPr lang="en-US" sz="1200" dirty="0"/>
          </a:p>
        </p:txBody>
      </p:sp>
      <p:sp>
        <p:nvSpPr>
          <p:cNvPr id="9" name="Shape 7"/>
          <p:cNvSpPr/>
          <p:nvPr/>
        </p:nvSpPr>
        <p:spPr>
          <a:xfrm>
            <a:off x="3200400" y="2447925"/>
            <a:ext cx="2006600" cy="203200"/>
          </a:xfrm>
          <a:prstGeom prst="roundRect">
            <a:avLst>
              <a:gd name="adj" fmla="val 12500"/>
            </a:avLst>
          </a:prstGeom>
          <a:solidFill>
            <a:srgbClr val="2F6B4F"/>
          </a:solidFill>
          <a:ln/>
        </p:spPr>
        <p:txBody>
          <a:bodyPr/>
          <a:lstStyle/>
          <a:p>
            <a:endParaRPr lang="en-US"/>
          </a:p>
        </p:txBody>
      </p:sp>
      <p:sp>
        <p:nvSpPr>
          <p:cNvPr id="10" name="Text 8"/>
          <p:cNvSpPr/>
          <p:nvPr/>
        </p:nvSpPr>
        <p:spPr>
          <a:xfrm>
            <a:off x="5308600" y="2444750"/>
            <a:ext cx="74211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12 (34%)</a:t>
            </a:r>
            <a:endParaRPr lang="en-US" sz="1200" dirty="0"/>
          </a:p>
        </p:txBody>
      </p:sp>
      <p:sp>
        <p:nvSpPr>
          <p:cNvPr id="11" name="Text 9"/>
          <p:cNvSpPr/>
          <p:nvPr/>
        </p:nvSpPr>
        <p:spPr>
          <a:xfrm>
            <a:off x="812800" y="2755900"/>
            <a:ext cx="235458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Household portion units</a:t>
            </a:r>
            <a:endParaRPr lang="en-US" sz="1200" dirty="0"/>
          </a:p>
        </p:txBody>
      </p:sp>
      <p:sp>
        <p:nvSpPr>
          <p:cNvPr id="12" name="Shape 10"/>
          <p:cNvSpPr/>
          <p:nvPr/>
        </p:nvSpPr>
        <p:spPr>
          <a:xfrm>
            <a:off x="3200400" y="2759075"/>
            <a:ext cx="1828800" cy="203200"/>
          </a:xfrm>
          <a:prstGeom prst="roundRect">
            <a:avLst>
              <a:gd name="adj" fmla="val 12500"/>
            </a:avLst>
          </a:prstGeom>
          <a:solidFill>
            <a:srgbClr val="2F6B4F"/>
          </a:solidFill>
          <a:ln/>
        </p:spPr>
        <p:txBody>
          <a:bodyPr/>
          <a:lstStyle/>
          <a:p>
            <a:endParaRPr lang="en-US"/>
          </a:p>
        </p:txBody>
      </p:sp>
      <p:sp>
        <p:nvSpPr>
          <p:cNvPr id="13" name="Text 11"/>
          <p:cNvSpPr/>
          <p:nvPr/>
        </p:nvSpPr>
        <p:spPr>
          <a:xfrm>
            <a:off x="5130800" y="2755900"/>
            <a:ext cx="731996"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11 (31%)</a:t>
            </a:r>
            <a:endParaRPr lang="en-US" sz="1200" dirty="0"/>
          </a:p>
        </p:txBody>
      </p:sp>
      <p:sp>
        <p:nvSpPr>
          <p:cNvPr id="14" name="Text 12"/>
          <p:cNvSpPr/>
          <p:nvPr/>
        </p:nvSpPr>
        <p:spPr>
          <a:xfrm>
            <a:off x="812800" y="3067050"/>
            <a:ext cx="235458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Daily and weekly summaries</a:t>
            </a:r>
            <a:endParaRPr lang="en-US" sz="1200" dirty="0"/>
          </a:p>
        </p:txBody>
      </p:sp>
      <p:sp>
        <p:nvSpPr>
          <p:cNvPr id="15" name="Shape 13"/>
          <p:cNvSpPr/>
          <p:nvPr/>
        </p:nvSpPr>
        <p:spPr>
          <a:xfrm>
            <a:off x="3200400" y="3070225"/>
            <a:ext cx="1536700" cy="203200"/>
          </a:xfrm>
          <a:prstGeom prst="roundRect">
            <a:avLst>
              <a:gd name="adj" fmla="val 12500"/>
            </a:avLst>
          </a:prstGeom>
          <a:solidFill>
            <a:srgbClr val="2F6B4F"/>
          </a:solidFill>
          <a:ln/>
        </p:spPr>
        <p:txBody>
          <a:bodyPr/>
          <a:lstStyle/>
          <a:p>
            <a:endParaRPr lang="en-US"/>
          </a:p>
        </p:txBody>
      </p:sp>
      <p:sp>
        <p:nvSpPr>
          <p:cNvPr id="16" name="Text 14"/>
          <p:cNvSpPr/>
          <p:nvPr/>
        </p:nvSpPr>
        <p:spPr>
          <a:xfrm>
            <a:off x="4838700" y="3067050"/>
            <a:ext cx="64043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9 (26%)</a:t>
            </a:r>
            <a:endParaRPr lang="en-US" sz="1200" dirty="0"/>
          </a:p>
        </p:txBody>
      </p:sp>
      <p:sp>
        <p:nvSpPr>
          <p:cNvPr id="17" name="Text 15"/>
          <p:cNvSpPr/>
          <p:nvPr/>
        </p:nvSpPr>
        <p:spPr>
          <a:xfrm>
            <a:off x="812800" y="3378200"/>
            <a:ext cx="235458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Automatic calories and macros</a:t>
            </a:r>
            <a:endParaRPr lang="en-US" sz="1200" dirty="0"/>
          </a:p>
        </p:txBody>
      </p:sp>
      <p:sp>
        <p:nvSpPr>
          <p:cNvPr id="18" name="Shape 16"/>
          <p:cNvSpPr/>
          <p:nvPr/>
        </p:nvSpPr>
        <p:spPr>
          <a:xfrm>
            <a:off x="3200400" y="3381375"/>
            <a:ext cx="1358900" cy="203200"/>
          </a:xfrm>
          <a:prstGeom prst="roundRect">
            <a:avLst>
              <a:gd name="adj" fmla="val 12500"/>
            </a:avLst>
          </a:prstGeom>
          <a:solidFill>
            <a:srgbClr val="2F6B4F"/>
          </a:solidFill>
          <a:ln/>
        </p:spPr>
        <p:txBody>
          <a:bodyPr/>
          <a:lstStyle/>
          <a:p>
            <a:endParaRPr lang="en-US"/>
          </a:p>
        </p:txBody>
      </p:sp>
      <p:sp>
        <p:nvSpPr>
          <p:cNvPr id="19" name="Text 17"/>
          <p:cNvSpPr/>
          <p:nvPr/>
        </p:nvSpPr>
        <p:spPr>
          <a:xfrm>
            <a:off x="4660900" y="3378200"/>
            <a:ext cx="64043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8 (23%)</a:t>
            </a:r>
            <a:endParaRPr lang="en-US" sz="1200" dirty="0"/>
          </a:p>
        </p:txBody>
      </p:sp>
      <p:sp>
        <p:nvSpPr>
          <p:cNvPr id="20" name="Text 18"/>
          <p:cNvSpPr/>
          <p:nvPr/>
        </p:nvSpPr>
        <p:spPr>
          <a:xfrm>
            <a:off x="812800" y="3689350"/>
            <a:ext cx="2354580"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50"/>
                </a:solidFill>
                <a:latin typeface="Arial" pitchFamily="34" charset="0"/>
                <a:ea typeface="Arial" pitchFamily="34" charset="-122"/>
                <a:cs typeface="Arial" pitchFamily="34" charset="-120"/>
              </a:rPr>
              <a:t>Five others, each</a:t>
            </a:r>
            <a:endParaRPr lang="en-US" sz="1200" dirty="0"/>
          </a:p>
        </p:txBody>
      </p:sp>
      <p:sp>
        <p:nvSpPr>
          <p:cNvPr id="21" name="Shape 19"/>
          <p:cNvSpPr/>
          <p:nvPr/>
        </p:nvSpPr>
        <p:spPr>
          <a:xfrm>
            <a:off x="3200400" y="3692525"/>
            <a:ext cx="1003300" cy="203200"/>
          </a:xfrm>
          <a:prstGeom prst="roundRect">
            <a:avLst>
              <a:gd name="adj" fmla="val 12500"/>
            </a:avLst>
          </a:prstGeom>
          <a:solidFill>
            <a:srgbClr val="B9C8BE"/>
          </a:solidFill>
          <a:ln/>
        </p:spPr>
        <p:txBody>
          <a:bodyPr/>
          <a:lstStyle/>
          <a:p>
            <a:endParaRPr lang="en-US"/>
          </a:p>
        </p:txBody>
      </p:sp>
      <p:sp>
        <p:nvSpPr>
          <p:cNvPr id="22" name="Text 20"/>
          <p:cNvSpPr/>
          <p:nvPr/>
        </p:nvSpPr>
        <p:spPr>
          <a:xfrm>
            <a:off x="4305300" y="3689350"/>
            <a:ext cx="640437" cy="23495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1F2A24"/>
                </a:solidFill>
                <a:latin typeface="Arial" pitchFamily="34" charset="0"/>
                <a:ea typeface="Arial" pitchFamily="34" charset="-122"/>
                <a:cs typeface="Arial" pitchFamily="34" charset="-120"/>
              </a:rPr>
              <a:t>6 (17%)</a:t>
            </a:r>
            <a:endParaRPr lang="en-US" sz="1200" dirty="0"/>
          </a:p>
        </p:txBody>
      </p:sp>
      <p:sp>
        <p:nvSpPr>
          <p:cNvPr id="23" name="Text 21"/>
          <p:cNvSpPr/>
          <p:nvPr/>
        </p:nvSpPr>
        <p:spPr>
          <a:xfrm>
            <a:off x="812800" y="4000500"/>
            <a:ext cx="6114039" cy="6731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The five: typing meals in words, water tracking, diet suggestions, goals, meal reminders. Ticked as useful (any number): photo 18, summaries 18, Indian dishes 16, auto calculation 16.</a:t>
            </a:r>
            <a:endParaRPr lang="en-US" sz="1200" dirty="0"/>
          </a:p>
        </p:txBody>
      </p:sp>
      <p:sp>
        <p:nvSpPr>
          <p:cNvPr id="24" name="Shape 22"/>
          <p:cNvSpPr/>
          <p:nvPr/>
        </p:nvSpPr>
        <p:spPr>
          <a:xfrm>
            <a:off x="7005935" y="1825625"/>
            <a:ext cx="4370090" cy="2832100"/>
          </a:xfrm>
          <a:prstGeom prst="roundRect">
            <a:avLst>
              <a:gd name="adj" fmla="val 3475"/>
            </a:avLst>
          </a:prstGeom>
          <a:solidFill>
            <a:srgbClr val="FFFDF7"/>
          </a:solidFill>
          <a:ln w="6350">
            <a:solidFill>
              <a:srgbClr val="E0D8C6"/>
            </a:solidFill>
            <a:prstDash val="solid"/>
          </a:ln>
        </p:spPr>
        <p:txBody>
          <a:bodyPr/>
          <a:lstStyle/>
          <a:p>
            <a:endParaRPr lang="en-US"/>
          </a:p>
        </p:txBody>
      </p:sp>
      <p:sp>
        <p:nvSpPr>
          <p:cNvPr id="25" name="Text 23"/>
          <p:cNvSpPr/>
          <p:nvPr/>
        </p:nvSpPr>
        <p:spPr>
          <a:xfrm>
            <a:off x="7212310" y="2032000"/>
            <a:ext cx="4076060"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Would they log for 7 days?</a:t>
            </a:r>
            <a:endParaRPr lang="en-US" sz="1600" dirty="0"/>
          </a:p>
        </p:txBody>
      </p:sp>
      <p:sp>
        <p:nvSpPr>
          <p:cNvPr id="26" name="Text 24"/>
          <p:cNvSpPr/>
          <p:nvPr/>
        </p:nvSpPr>
        <p:spPr>
          <a:xfrm>
            <a:off x="7212310" y="2349500"/>
            <a:ext cx="4076060" cy="46990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B5701A"/>
                </a:solidFill>
                <a:latin typeface="Georgia" pitchFamily="18" charset="0"/>
                <a:ea typeface="Georgia" pitchFamily="18" charset="-122"/>
                <a:cs typeface="Georgia" pitchFamily="18" charset="-120"/>
              </a:rPr>
              <a:t>3.26 </a:t>
            </a:r>
            <a:r>
              <a:rPr lang="en-US" sz="3200" b="1" dirty="0">
                <a:solidFill>
                  <a:srgbClr val="4A5550"/>
                </a:solidFill>
                <a:latin typeface="Georgia" pitchFamily="18" charset="0"/>
                <a:ea typeface="Georgia" pitchFamily="18" charset="-122"/>
                <a:cs typeface="Georgia" pitchFamily="18" charset="-120"/>
              </a:rPr>
              <a:t>of 5</a:t>
            </a:r>
            <a:endParaRPr lang="en-US" sz="3200" dirty="0"/>
          </a:p>
        </p:txBody>
      </p:sp>
      <p:sp>
        <p:nvSpPr>
          <p:cNvPr id="27" name="Text 25"/>
          <p:cNvSpPr/>
          <p:nvPr/>
        </p:nvSpPr>
        <p:spPr>
          <a:xfrm>
            <a:off x="7212310" y="2870200"/>
            <a:ext cx="4076060" cy="2413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SD 1.07, median 3. 14 of 35 (40%) answer 4 or 5.</a:t>
            </a:r>
            <a:endParaRPr lang="en-US" sz="1200" dirty="0"/>
          </a:p>
        </p:txBody>
      </p:sp>
      <p:sp>
        <p:nvSpPr>
          <p:cNvPr id="28" name="Text 26"/>
          <p:cNvSpPr/>
          <p:nvPr/>
        </p:nvSpPr>
        <p:spPr>
          <a:xfrm>
            <a:off x="7212310" y="3162300"/>
            <a:ext cx="1107877"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Current users</a:t>
            </a:r>
            <a:endParaRPr lang="en-US" sz="1200" dirty="0"/>
          </a:p>
        </p:txBody>
      </p:sp>
      <p:sp>
        <p:nvSpPr>
          <p:cNvPr id="29" name="Text 27"/>
          <p:cNvSpPr/>
          <p:nvPr/>
        </p:nvSpPr>
        <p:spPr>
          <a:xfrm>
            <a:off x="10813653" y="3162300"/>
            <a:ext cx="355997"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4.63</a:t>
            </a:r>
            <a:endParaRPr lang="en-US" sz="1200" dirty="0"/>
          </a:p>
        </p:txBody>
      </p:sp>
      <p:sp>
        <p:nvSpPr>
          <p:cNvPr id="30" name="Text 28"/>
          <p:cNvSpPr/>
          <p:nvPr/>
        </p:nvSpPr>
        <p:spPr>
          <a:xfrm>
            <a:off x="7212310" y="3448050"/>
            <a:ext cx="1087279"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Former users</a:t>
            </a:r>
            <a:endParaRPr lang="en-US" sz="1200" dirty="0"/>
          </a:p>
        </p:txBody>
      </p:sp>
      <p:sp>
        <p:nvSpPr>
          <p:cNvPr id="31" name="Text 29"/>
          <p:cNvSpPr/>
          <p:nvPr/>
        </p:nvSpPr>
        <p:spPr>
          <a:xfrm>
            <a:off x="10813653" y="3448050"/>
            <a:ext cx="355997"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3.25</a:t>
            </a:r>
            <a:endParaRPr lang="en-US" sz="1200" dirty="0"/>
          </a:p>
        </p:txBody>
      </p:sp>
      <p:sp>
        <p:nvSpPr>
          <p:cNvPr id="32" name="Text 30"/>
          <p:cNvSpPr/>
          <p:nvPr/>
        </p:nvSpPr>
        <p:spPr>
          <a:xfrm>
            <a:off x="7212310" y="3733800"/>
            <a:ext cx="995958" cy="23495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F2A24"/>
                </a:solidFill>
                <a:latin typeface="Arial" pitchFamily="34" charset="0"/>
                <a:ea typeface="Arial" pitchFamily="34" charset="-122"/>
                <a:cs typeface="Arial" pitchFamily="34" charset="-120"/>
              </a:rPr>
              <a:t>Never-users</a:t>
            </a:r>
            <a:endParaRPr lang="en-US" sz="1200" dirty="0"/>
          </a:p>
        </p:txBody>
      </p:sp>
      <p:sp>
        <p:nvSpPr>
          <p:cNvPr id="33" name="Text 31"/>
          <p:cNvSpPr/>
          <p:nvPr/>
        </p:nvSpPr>
        <p:spPr>
          <a:xfrm>
            <a:off x="10813653" y="3733800"/>
            <a:ext cx="355997" cy="234950"/>
          </a:xfrm>
          <a:prstGeom prst="rect">
            <a:avLst/>
          </a:prstGeom>
          <a:noFill/>
          <a:ln/>
        </p:spPr>
        <p:txBody>
          <a:bodyPr wrap="square" lIns="0" tIns="0" rIns="0" bIns="0" rtlCol="0" anchor="t">
            <a:normAutofit/>
          </a:bodyPr>
          <a:lstStyle/>
          <a:p>
            <a:pPr marL="0" indent="0" algn="r">
              <a:lnSpc>
                <a:spcPts val="1680"/>
              </a:lnSpc>
              <a:buNone/>
            </a:pPr>
            <a:r>
              <a:rPr lang="en-US" sz="1200" b="1" dirty="0">
                <a:solidFill>
                  <a:srgbClr val="1F2A24"/>
                </a:solidFill>
                <a:latin typeface="Arial" pitchFamily="34" charset="0"/>
                <a:ea typeface="Arial" pitchFamily="34" charset="-122"/>
                <a:cs typeface="Arial" pitchFamily="34" charset="-120"/>
              </a:rPr>
              <a:t>2.53</a:t>
            </a:r>
            <a:endParaRPr lang="en-US" sz="1200" dirty="0"/>
          </a:p>
        </p:txBody>
      </p:sp>
      <p:sp>
        <p:nvSpPr>
          <p:cNvPr id="34" name="Text 32"/>
          <p:cNvSpPr/>
          <p:nvPr/>
        </p:nvSpPr>
        <p:spPr>
          <a:xfrm>
            <a:off x="7212310" y="4019550"/>
            <a:ext cx="4076060" cy="4572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25 of 35 (71%) are very or somewhat comfortable photographing meals; 4 are not, 6 unsure.</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RESULTS · NEEDS AGAINST THE TOOL</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How Syntropy covers what we found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35150"/>
          <a:ext cx="10553700" cy="2993229"/>
        </p:xfrm>
        <a:graphic>
          <a:graphicData uri="http://schemas.openxmlformats.org/drawingml/2006/table">
            <a:tbl>
              <a:tblPr/>
              <a:tblGrid>
                <a:gridCol w="3588258">
                  <a:extLst>
                    <a:ext uri="{9D8B030D-6E8A-4147-A177-3AD203B41FA5}">
                      <a16:colId xmlns:a16="http://schemas.microsoft.com/office/drawing/2014/main" val="20000"/>
                    </a:ext>
                  </a:extLst>
                </a:gridCol>
                <a:gridCol w="949833">
                  <a:extLst>
                    <a:ext uri="{9D8B030D-6E8A-4147-A177-3AD203B41FA5}">
                      <a16:colId xmlns:a16="http://schemas.microsoft.com/office/drawing/2014/main" val="20001"/>
                    </a:ext>
                  </a:extLst>
                </a:gridCol>
                <a:gridCol w="4327017">
                  <a:extLst>
                    <a:ext uri="{9D8B030D-6E8A-4147-A177-3AD203B41FA5}">
                      <a16:colId xmlns:a16="http://schemas.microsoft.com/office/drawing/2014/main" val="20002"/>
                    </a:ext>
                  </a:extLst>
                </a:gridCol>
                <a:gridCol w="1688592">
                  <a:extLst>
                    <a:ext uri="{9D8B030D-6E8A-4147-A177-3AD203B41FA5}">
                      <a16:colId xmlns:a16="http://schemas.microsoft.com/office/drawing/2014/main" val="20003"/>
                    </a:ext>
                  </a:extLst>
                </a:gridCol>
              </a:tblGrid>
              <a:tr h="332581">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Problem found</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gn="r">
                        <a:lnSpc>
                          <a:spcPts val="1680"/>
                        </a:lnSpc>
                        <a:buNone/>
                      </a:pPr>
                      <a:r>
                        <a:rPr lang="en-US" sz="1200" b="1" dirty="0">
                          <a:solidFill>
                            <a:srgbClr val="F7F4EC"/>
                          </a:solidFill>
                          <a:latin typeface="Arial" pitchFamily="34" charset="0"/>
                          <a:ea typeface="Arial" pitchFamily="34" charset="-122"/>
                          <a:cs typeface="Arial" pitchFamily="34" charset="-120"/>
                        </a:rPr>
                        <a:t>Share</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Syntropy feature (v1.0.0)</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extLst>
                  <a:ext uri="{0D108BD9-81ED-4DB2-BD59-A6C34878D82A}">
                    <a16:rowId xmlns:a16="http://schemas.microsoft.com/office/drawing/2014/main" val="10000"/>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Mixed dishes hard to work out</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86%</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Mixed dishes in table; photo names each dish</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2F6B4F"/>
                          </a:solidFill>
                          <a:latin typeface="Arial" pitchFamily="34" charset="0"/>
                          <a:ea typeface="Arial" pitchFamily="34" charset="-122"/>
                          <a:cs typeface="Arial" pitchFamily="34" charset="-120"/>
                        </a:rPr>
                        <a:t>Built</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1"/>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Indian dish values hard to find</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74%</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180-item Indian food table (INDB, IFCT 2017)</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2F6B4F"/>
                          </a:solidFill>
                          <a:latin typeface="Arial" pitchFamily="34" charset="0"/>
                          <a:ea typeface="Arial" pitchFamily="34" charset="-122"/>
                          <a:cs typeface="Arial" pitchFamily="34" charset="-120"/>
                        </a:rPr>
                        <a:t>Built</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2"/>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Grams hard to relate to the plate</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69%</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Household units: katori, cup, glass, plate</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2F6B4F"/>
                          </a:solidFill>
                          <a:latin typeface="Arial" pitchFamily="34" charset="0"/>
                          <a:ea typeface="Arial" pitchFamily="34" charset="-122"/>
                          <a:cs typeface="Arial" pitchFamily="34" charset="-120"/>
                        </a:rPr>
                        <a:t>Built</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3"/>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Logging too slow (app users)</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60%</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Photo logging, typed quick add, widgets</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2F6B4F"/>
                          </a:solidFill>
                          <a:latin typeface="Arial" pitchFamily="34" charset="0"/>
                          <a:ea typeface="Arial" pitchFamily="34" charset="-122"/>
                          <a:cs typeface="Arial" pitchFamily="34" charset="-120"/>
                        </a:rPr>
                        <a:t>Built</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4"/>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Paid features locked (app users)</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55%</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Free, open source, no paid tier</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2F6B4F"/>
                          </a:solidFill>
                          <a:latin typeface="Arial" pitchFamily="34" charset="0"/>
                          <a:ea typeface="Arial" pitchFamily="34" charset="-122"/>
                          <a:cs typeface="Arial" pitchFamily="34" charset="-120"/>
                        </a:rPr>
                        <a:t>Built</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5"/>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Fibre or micronutrient worry</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51%</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Tracks calories and macros only</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9A3412"/>
                          </a:solidFill>
                          <a:latin typeface="Arial" pitchFamily="34" charset="0"/>
                          <a:ea typeface="Arial" pitchFamily="34" charset="-122"/>
                          <a:cs typeface="Arial" pitchFamily="34" charset="-120"/>
                        </a:rPr>
                        <a:t>Not built</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6"/>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Skips breakfast 3+ days</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37%</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Meal times stored but not analysed</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9A3412"/>
                          </a:solidFill>
                          <a:latin typeface="Arial" pitchFamily="34" charset="0"/>
                          <a:ea typeface="Arial" pitchFamily="34" charset="-122"/>
                          <a:cs typeface="Arial" pitchFamily="34" charset="-120"/>
                        </a:rPr>
                        <a:t>Not built</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7"/>
                  </a:ext>
                </a:extLst>
              </a:tr>
              <a:tr h="33258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Forgets to log (app users)</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gn="r">
                        <a:lnSpc>
                          <a:spcPts val="1680"/>
                        </a:lnSpc>
                        <a:buNone/>
                      </a:pPr>
                      <a:r>
                        <a:rPr lang="en-US" sz="1200" dirty="0">
                          <a:solidFill>
                            <a:srgbClr val="1F2A24"/>
                          </a:solidFill>
                          <a:latin typeface="Arial" pitchFamily="34" charset="0"/>
                          <a:ea typeface="Arial" pitchFamily="34" charset="-122"/>
                          <a:cs typeface="Arial" pitchFamily="34" charset="-120"/>
                        </a:rPr>
                        <a:t>30%</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Water reminders only, no meal reminders</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8A5410"/>
                          </a:solidFill>
                          <a:latin typeface="Arial" pitchFamily="34" charset="0"/>
                          <a:ea typeface="Arial" pitchFamily="34" charset="-122"/>
                          <a:cs typeface="Arial" pitchFamily="34" charset="-120"/>
                        </a:rPr>
                        <a:t>Partly</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8"/>
                  </a:ext>
                </a:extLst>
              </a:tr>
            </a:tbl>
          </a:graphicData>
        </a:graphic>
      </p:graphicFrame>
      <p:sp>
        <p:nvSpPr>
          <p:cNvPr id="5" name="Text 2"/>
          <p:cNvSpPr/>
          <p:nvPr/>
        </p:nvSpPr>
        <p:spPr>
          <a:xfrm>
            <a:off x="812800" y="5082381"/>
            <a:ext cx="10883392" cy="24130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50"/>
                </a:solidFill>
                <a:latin typeface="Arial" pitchFamily="34" charset="0"/>
                <a:ea typeface="Arial" pitchFamily="34" charset="-122"/>
                <a:cs typeface="Arial" pitchFamily="34" charset="-120"/>
              </a:rPr>
              <a:t>Photo scan and the AI coach need each user’s own free Gemini key. Shares use all 35 as base unless marked “app users” (base 20).</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F3A2E"/>
        </a:solidFill>
        <a:effectLst/>
      </p:bgPr>
    </p:bg>
    <p:spTree>
      <p:nvGrpSpPr>
        <p:cNvPr id="1" name=""/>
        <p:cNvGrpSpPr/>
        <p:nvPr/>
      </p:nvGrpSpPr>
      <p:grpSpPr>
        <a:xfrm>
          <a:off x="0" y="0"/>
          <a:ext cx="0" cy="0"/>
          <a:chOff x="0" y="0"/>
          <a:chExt cx="0" cy="0"/>
        </a:xfrm>
      </p:grpSpPr>
      <p:sp>
        <p:nvSpPr>
          <p:cNvPr id="2" name="Text 0"/>
          <p:cNvSpPr/>
          <p:nvPr/>
        </p:nvSpPr>
        <p:spPr>
          <a:xfrm>
            <a:off x="812800" y="2505075"/>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A94A"/>
                </a:solidFill>
                <a:latin typeface="Arial" pitchFamily="34" charset="0"/>
                <a:ea typeface="Arial" pitchFamily="34" charset="-122"/>
                <a:cs typeface="Arial" pitchFamily="34" charset="-120"/>
              </a:rPr>
              <a:t>PART 3</a:t>
            </a:r>
            <a:endParaRPr lang="en-US" sz="1200" dirty="0"/>
          </a:p>
        </p:txBody>
      </p:sp>
      <p:sp>
        <p:nvSpPr>
          <p:cNvPr id="3" name="Text 1"/>
          <p:cNvSpPr>
            <a:spLocks noGrp="1"/>
          </p:cNvSpPr>
          <p:nvPr>
            <p:ph type="title"/>
          </p:nvPr>
        </p:nvSpPr>
        <p:spPr>
          <a:xfrm>
            <a:off x="812800" y="3019425"/>
            <a:ext cx="10883392" cy="69215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7F4EC"/>
                </a:solidFill>
                <a:latin typeface="Georgia" pitchFamily="18" charset="0"/>
                <a:ea typeface="Georgia" pitchFamily="18" charset="-122"/>
                <a:cs typeface="Georgia" pitchFamily="18" charset="-120"/>
              </a:rPr>
              <a:t>Achievement of objectives</a:t>
            </a:r>
            <a:endParaRPr lang="en-US" sz="4800" dirty="0"/>
          </a:p>
        </p:txBody>
      </p:sp>
      <p:sp>
        <p:nvSpPr>
          <p:cNvPr id="4" name="Text 2"/>
          <p:cNvSpPr/>
          <p:nvPr/>
        </p:nvSpPr>
        <p:spPr>
          <a:xfrm>
            <a:off x="812800" y="3990975"/>
            <a:ext cx="10883392" cy="387350"/>
          </a:xfrm>
          <a:prstGeom prst="rect">
            <a:avLst/>
          </a:prstGeom>
          <a:noFill/>
          <a:ln/>
        </p:spPr>
        <p:txBody>
          <a:bodyPr wrap="square" lIns="0" tIns="0" rIns="0" bIns="0" rtlCol="0" anchor="t">
            <a:normAutofit/>
          </a:bodyPr>
          <a:lstStyle/>
          <a:p>
            <a:pPr marL="0" indent="0" algn="l">
              <a:lnSpc>
                <a:spcPts val="2860"/>
              </a:lnSpc>
              <a:buNone/>
            </a:pPr>
            <a:r>
              <a:rPr lang="en-US" sz="2200" dirty="0">
                <a:solidFill>
                  <a:srgbClr val="C9D8CF"/>
                </a:solidFill>
                <a:latin typeface="Arial" pitchFamily="34" charset="0"/>
                <a:ea typeface="Arial" pitchFamily="34" charset="-122"/>
                <a:cs typeface="Arial" pitchFamily="34" charset="-120"/>
              </a:rPr>
              <a:t>How well have we achieved the objectives set in our methodology?</a:t>
            </a:r>
            <a:endParaRPr lang="en-US" sz="2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ACHIEVEMENT OF OBJECTIVES</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Where each objective stands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84350"/>
          <a:ext cx="10553700" cy="2486025"/>
        </p:xfrm>
        <a:graphic>
          <a:graphicData uri="http://schemas.openxmlformats.org/drawingml/2006/table">
            <a:tbl>
              <a:tblPr/>
              <a:tblGrid>
                <a:gridCol w="2743962">
                  <a:extLst>
                    <a:ext uri="{9D8B030D-6E8A-4147-A177-3AD203B41FA5}">
                      <a16:colId xmlns:a16="http://schemas.microsoft.com/office/drawing/2014/main" val="20000"/>
                    </a:ext>
                  </a:extLst>
                </a:gridCol>
                <a:gridCol w="5910072">
                  <a:extLst>
                    <a:ext uri="{9D8B030D-6E8A-4147-A177-3AD203B41FA5}">
                      <a16:colId xmlns:a16="http://schemas.microsoft.com/office/drawing/2014/main" val="20001"/>
                    </a:ext>
                  </a:extLst>
                </a:gridCol>
                <a:gridCol w="1899666">
                  <a:extLst>
                    <a:ext uri="{9D8B030D-6E8A-4147-A177-3AD203B41FA5}">
                      <a16:colId xmlns:a16="http://schemas.microsoft.com/office/drawing/2014/main" val="20002"/>
                    </a:ext>
                  </a:extLst>
                </a:gridCol>
              </a:tblGrid>
              <a:tr h="332581">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Objective</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What we have so far</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tc>
                  <a:txBody>
                    <a:bodyPr/>
                    <a:lstStyle/>
                    <a:p>
                      <a:pPr marL="0" indent="0">
                        <a:lnSpc>
                          <a:spcPts val="1680"/>
                        </a:lnSpc>
                        <a:buNone/>
                      </a:pPr>
                      <a:r>
                        <a:rPr lang="en-US" sz="1200" b="1" dirty="0">
                          <a:solidFill>
                            <a:srgbClr val="F7F4EC"/>
                          </a:solidFill>
                          <a:latin typeface="Arial" pitchFamily="34" charset="0"/>
                          <a:ea typeface="Arial" pitchFamily="34" charset="-122"/>
                          <a:cs typeface="Arial" pitchFamily="34" charset="-120"/>
                        </a:rPr>
                        <a:t>Status</a:t>
                      </a:r>
                      <a:endParaRPr lang="en-US" sz="1200" dirty="0">
                        <a:latin typeface="Arial" charset="0"/>
                        <a:ea typeface="Arial" charset="0"/>
                        <a:cs typeface="Arial" charset="0"/>
                      </a:endParaRPr>
                    </a:p>
                  </a:txBody>
                  <a:tcPr marL="53340" marR="53340" marT="53340" marB="53340">
                    <a:lnL w="12700" cap="flat" cmpd="sng" algn="ctr">
                      <a:solidFill>
                        <a:srgbClr val="1D3228"/>
                      </a:solidFill>
                      <a:prstDash val="solid"/>
                      <a:round/>
                      <a:headEnd type="none" w="med" len="med"/>
                      <a:tailEnd type="none" w="med" len="med"/>
                    </a:lnL>
                    <a:lnR w="12700" cap="flat" cmpd="sng" algn="ctr">
                      <a:solidFill>
                        <a:srgbClr val="1D3228"/>
                      </a:solidFill>
                      <a:prstDash val="solid"/>
                      <a:round/>
                      <a:headEnd type="none" w="med" len="med"/>
                      <a:tailEnd type="none" w="med" len="med"/>
                    </a:lnR>
                    <a:lnT w="12700" cap="flat" cmpd="sng" algn="ctr">
                      <a:solidFill>
                        <a:srgbClr val="C5C3BC"/>
                      </a:solidFill>
                      <a:prstDash val="solid"/>
                      <a:round/>
                      <a:headEnd type="none" w="med" len="med"/>
                      <a:tailEnd type="none" w="med" len="med"/>
                    </a:lnT>
                    <a:lnB w="12700" cap="flat" cmpd="sng" algn="ctr">
                      <a:solidFill>
                        <a:srgbClr val="1D3228"/>
                      </a:solidFill>
                      <a:prstDash val="solid"/>
                      <a:round/>
                      <a:headEnd type="none" w="med" len="med"/>
                      <a:tailEnd type="none" w="med" len="med"/>
                    </a:lnB>
                    <a:solidFill>
                      <a:srgbClr val="1F3A2E"/>
                    </a:solidFill>
                  </a:tcPr>
                </a:tc>
                <a:extLst>
                  <a:ext uri="{0D108BD9-81ED-4DB2-BD59-A6C34878D82A}">
                    <a16:rowId xmlns:a16="http://schemas.microsoft.com/office/drawing/2014/main" val="10000"/>
                  </a:ext>
                </a:extLst>
              </a:tr>
              <a:tr h="53836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1 · Assess dietary patterns</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Four patterns classified by predefined rules from weekly frequency answers, and linked to meal source. Confirming them needs the 7-day logs.</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8A5410"/>
                          </a:solidFill>
                          <a:latin typeface="Arial" pitchFamily="34" charset="0"/>
                          <a:ea typeface="Arial" pitchFamily="34" charset="-122"/>
                          <a:cs typeface="Arial" pitchFamily="34" charset="-120"/>
                        </a:rPr>
                        <a:t>Partly met</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1D3228"/>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1"/>
                  </a:ext>
                </a:extLst>
              </a:tr>
              <a:tr h="53836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2 · Frequency and variety of food groups</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Weekly frequency of vegetables, fruit, packaged food and snacks. Cereals, pulses, dairy, protein foods and a diversity score are still to come.</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8A5410"/>
                          </a:solidFill>
                          <a:latin typeface="Arial" pitchFamily="34" charset="0"/>
                          <a:ea typeface="Arial" pitchFamily="34" charset="-122"/>
                          <a:cs typeface="Arial" pitchFamily="34" charset="-120"/>
                        </a:rPr>
                        <a:t>Partly met</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2"/>
                  </a:ext>
                </a:extLst>
              </a:tr>
              <a:tr h="53836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3 · Meals, snacks, portions, diversity, timing</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Meals a day, snacking, timing and breakfast skipping measured. Portions covered only as difficulty and preferred units; diversity pending.</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tc>
                  <a:txBody>
                    <a:bodyPr/>
                    <a:lstStyle/>
                    <a:p>
                      <a:pPr marL="0" indent="0">
                        <a:lnSpc>
                          <a:spcPts val="1680"/>
                        </a:lnSpc>
                        <a:buNone/>
                      </a:pPr>
                      <a:r>
                        <a:rPr lang="en-US" sz="1200" dirty="0">
                          <a:solidFill>
                            <a:srgbClr val="2F6B4F"/>
                          </a:solidFill>
                          <a:latin typeface="Arial" pitchFamily="34" charset="0"/>
                          <a:ea typeface="Arial" pitchFamily="34" charset="-122"/>
                          <a:cs typeface="Arial" pitchFamily="34" charset="-120"/>
                        </a:rPr>
                        <a:t>Mostly met</a:t>
                      </a:r>
                      <a:endParaRPr lang="en-US" sz="1200" dirty="0">
                        <a:latin typeface="Arial" charset="0"/>
                        <a:ea typeface="Arial" charset="0"/>
                        <a:cs typeface="Arial" charset="0"/>
                      </a:endParaRPr>
                    </a:p>
                  </a:txBody>
                  <a:tcPr marL="53340" marR="53340" marT="53340" marB="53340">
                    <a:lnL w="12700" cap="flat" cmpd="sng" algn="ctr">
                      <a:solidFill>
                        <a:srgbClr val="CBCAC5"/>
                      </a:solidFill>
                      <a:prstDash val="solid"/>
                      <a:round/>
                      <a:headEnd type="none" w="med" len="med"/>
                      <a:tailEnd type="none" w="med" len="med"/>
                    </a:lnL>
                    <a:lnR w="12700" cap="flat" cmpd="sng" algn="ctr">
                      <a:solidFill>
                        <a:srgbClr val="CBCAC5"/>
                      </a:solidFill>
                      <a:prstDash val="solid"/>
                      <a:round/>
                      <a:headEnd type="none" w="med" len="med"/>
                      <a:tailEnd type="none" w="med" len="med"/>
                    </a:lnR>
                    <a:lnT w="12700" cap="flat" cmpd="sng" algn="ctr">
                      <a:solidFill>
                        <a:srgbClr val="C1BDB4"/>
                      </a:solidFill>
                      <a:prstDash val="solid"/>
                      <a:round/>
                      <a:headEnd type="none" w="med" len="med"/>
                      <a:tailEnd type="none" w="med" len="med"/>
                    </a:lnT>
                    <a:lnB w="12700" cap="flat" cmpd="sng" algn="ctr">
                      <a:solidFill>
                        <a:srgbClr val="CBCAC5"/>
                      </a:solidFill>
                      <a:prstDash val="solid"/>
                      <a:round/>
                      <a:headEnd type="none" w="med" len="med"/>
                      <a:tailEnd type="none" w="med" len="med"/>
                    </a:lnB>
                    <a:solidFill>
                      <a:srgbClr val="FFFDF7"/>
                    </a:solidFill>
                  </a:tcPr>
                </a:tc>
                <a:extLst>
                  <a:ext uri="{0D108BD9-81ED-4DB2-BD59-A6C34878D82A}">
                    <a16:rowId xmlns:a16="http://schemas.microsoft.com/office/drawing/2014/main" val="10003"/>
                  </a:ext>
                </a:extLst>
              </a:tr>
              <a:tr h="538361">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4 · Energy and macronutrient intake</a:t>
                      </a:r>
                      <a:endParaRPr lang="en-US" sz="1200" dirty="0">
                        <a:latin typeface="Arial" charset="0"/>
                        <a:ea typeface="Arial" charset="0"/>
                        <a:cs typeface="Arial" charset="0"/>
                      </a:endParaRPr>
                    </a:p>
                  </a:txBody>
                  <a:tcPr marL="53340" marR="53340" marT="53340" marB="53340">
                    <a:lnL w="12700" cap="flat" cmpd="sng" algn="ctr">
                      <a:solidFill>
                        <a:srgbClr val="C5C3BC"/>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1F2A24"/>
                          </a:solidFill>
                          <a:latin typeface="Arial" pitchFamily="34" charset="0"/>
                          <a:ea typeface="Arial" pitchFamily="34" charset="-122"/>
                          <a:cs typeface="Arial" pitchFamily="34" charset="-120"/>
                        </a:rPr>
                        <a:t>Not measured yet. We have perceived gaps (43% think protein is low) and self-rated knowledge of needs (2.74 of 5).</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tc>
                  <a:txBody>
                    <a:bodyPr/>
                    <a:lstStyle/>
                    <a:p>
                      <a:pPr marL="0" indent="0">
                        <a:lnSpc>
                          <a:spcPts val="1680"/>
                        </a:lnSpc>
                        <a:buNone/>
                      </a:pPr>
                      <a:r>
                        <a:rPr lang="en-US" sz="1200" dirty="0">
                          <a:solidFill>
                            <a:srgbClr val="9A3412"/>
                          </a:solidFill>
                          <a:latin typeface="Arial" pitchFamily="34" charset="0"/>
                          <a:ea typeface="Arial" pitchFamily="34" charset="-122"/>
                          <a:cs typeface="Arial" pitchFamily="34" charset="-120"/>
                        </a:rPr>
                        <a:t>Not yet met</a:t>
                      </a:r>
                      <a:endParaRPr lang="en-US" sz="1200" dirty="0">
                        <a:latin typeface="Arial" charset="0"/>
                        <a:ea typeface="Arial" charset="0"/>
                        <a:cs typeface="Arial" charset="0"/>
                      </a:endParaRPr>
                    </a:p>
                  </a:txBody>
                  <a:tcPr marL="53340" marR="53340" marT="53340" marB="53340">
                    <a:lnL w="12700" cap="flat" cmpd="sng" algn="ctr">
                      <a:solidFill>
                        <a:srgbClr val="C1BDB4"/>
                      </a:solidFill>
                      <a:prstDash val="solid"/>
                      <a:round/>
                      <a:headEnd type="none" w="med" len="med"/>
                      <a:tailEnd type="none" w="med" len="med"/>
                    </a:lnL>
                    <a:lnR w="12700" cap="flat" cmpd="sng" algn="ctr">
                      <a:solidFill>
                        <a:srgbClr val="C1BDB4"/>
                      </a:solidFill>
                      <a:prstDash val="solid"/>
                      <a:round/>
                      <a:headEnd type="none" w="med" len="med"/>
                      <a:tailEnd type="none" w="med" len="med"/>
                    </a:lnR>
                    <a:lnT w="12700" cap="flat" cmpd="sng" algn="ctr">
                      <a:solidFill>
                        <a:srgbClr val="CBCAC5"/>
                      </a:solidFill>
                      <a:prstDash val="solid"/>
                      <a:round/>
                      <a:headEnd type="none" w="med" len="med"/>
                      <a:tailEnd type="none" w="med" len="med"/>
                    </a:lnT>
                    <a:lnB w="12700" cap="flat" cmpd="sng" algn="ctr">
                      <a:solidFill>
                        <a:srgbClr val="C1BDB4"/>
                      </a:solidFill>
                      <a:prstDash val="solid"/>
                      <a:round/>
                      <a:headEnd type="none" w="med" len="med"/>
                      <a:tailEnd type="none" w="med" len="med"/>
                    </a:lnB>
                    <a:solidFill>
                      <a:srgbClr val="F2EDE1"/>
                    </a:solidFill>
                  </a:tcPr>
                </a:tc>
                <a:extLst>
                  <a:ext uri="{0D108BD9-81ED-4DB2-BD59-A6C34878D82A}">
                    <a16:rowId xmlns:a16="http://schemas.microsoft.com/office/drawing/2014/main" val="10004"/>
                  </a:ext>
                </a:extLst>
              </a:tr>
            </a:tbl>
          </a:graphicData>
        </a:graphic>
      </p:graphicFrame>
      <p:sp>
        <p:nvSpPr>
          <p:cNvPr id="5" name="Shape 2"/>
          <p:cNvSpPr/>
          <p:nvPr/>
        </p:nvSpPr>
        <p:spPr>
          <a:xfrm>
            <a:off x="812800" y="4473575"/>
            <a:ext cx="10566400" cy="685800"/>
          </a:xfrm>
          <a:prstGeom prst="rect">
            <a:avLst/>
          </a:prstGeom>
          <a:solidFill>
            <a:srgbClr val="EDE7D9"/>
          </a:solidFill>
          <a:ln/>
        </p:spPr>
        <p:txBody>
          <a:bodyPr/>
          <a:lstStyle/>
          <a:p>
            <a:endParaRPr lang="en-US"/>
          </a:p>
        </p:txBody>
      </p:sp>
      <p:sp>
        <p:nvSpPr>
          <p:cNvPr id="6" name="Shape 3"/>
          <p:cNvSpPr/>
          <p:nvPr/>
        </p:nvSpPr>
        <p:spPr>
          <a:xfrm>
            <a:off x="831850" y="4473575"/>
            <a:ext cx="0" cy="685800"/>
          </a:xfrm>
          <a:prstGeom prst="line">
            <a:avLst/>
          </a:prstGeom>
          <a:noFill/>
          <a:ln w="38100">
            <a:solidFill>
              <a:srgbClr val="2F6B4F"/>
            </a:solidFill>
            <a:prstDash val="solid"/>
          </a:ln>
        </p:spPr>
        <p:txBody>
          <a:bodyPr/>
          <a:lstStyle/>
          <a:p>
            <a:endParaRPr lang="en-US"/>
          </a:p>
        </p:txBody>
      </p:sp>
      <p:sp>
        <p:nvSpPr>
          <p:cNvPr id="7" name="Text 4"/>
          <p:cNvSpPr/>
          <p:nvPr/>
        </p:nvSpPr>
        <p:spPr>
          <a:xfrm>
            <a:off x="1028700" y="4600575"/>
            <a:ext cx="10477881" cy="457200"/>
          </a:xfrm>
          <a:prstGeom prst="rect">
            <a:avLst/>
          </a:prstGeom>
          <a:noFill/>
          <a:ln/>
        </p:spPr>
        <p:txBody>
          <a:bodyPr wrap="square" lIns="0" tIns="0" rIns="0" bIns="0" rtlCol="0" anchor="t">
            <a:normAutofit/>
          </a:bodyPr>
          <a:lstStyle/>
          <a:p>
            <a:pPr marL="0" indent="0" algn="l">
              <a:lnSpc>
                <a:spcPts val="1740"/>
              </a:lnSpc>
              <a:buNone/>
            </a:pPr>
            <a:r>
              <a:rPr lang="en-US" sz="1200" b="1" dirty="0">
                <a:solidFill>
                  <a:srgbClr val="1F2A24"/>
                </a:solidFill>
                <a:latin typeface="Arial" pitchFamily="34" charset="0"/>
                <a:ea typeface="Arial" pitchFamily="34" charset="-122"/>
                <a:cs typeface="Arial" pitchFamily="34" charset="-120"/>
              </a:rPr>
              <a:t>Verdict:</a:t>
            </a:r>
            <a:r>
              <a:rPr lang="en-US" sz="1200" dirty="0">
                <a:solidFill>
                  <a:srgbClr val="1F2A24"/>
                </a:solidFill>
                <a:latin typeface="Arial" pitchFamily="34" charset="0"/>
                <a:ea typeface="Arial" pitchFamily="34" charset="-122"/>
                <a:cs typeface="Arial" pitchFamily="34" charset="-120"/>
              </a:rPr>
              <a:t> Phase 1 did its job. It showed how people say they eat, what confuses them and what a logging tool must handle, and it confirmed Syntropy as a fit. Objectives 1, 2 and 4 need measured intake, which only the seven-day food log can give.</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EVALUATION</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Strengths and limitations</a:t>
            </a:r>
            <a:endParaRPr lang="en-US" sz="3200" dirty="0"/>
          </a:p>
        </p:txBody>
      </p:sp>
      <p:sp>
        <p:nvSpPr>
          <p:cNvPr id="4" name="Shape 2"/>
          <p:cNvSpPr/>
          <p:nvPr/>
        </p:nvSpPr>
        <p:spPr>
          <a:xfrm>
            <a:off x="812800" y="1822450"/>
            <a:ext cx="5181600" cy="2273300"/>
          </a:xfrm>
          <a:prstGeom prst="roundRect">
            <a:avLst>
              <a:gd name="adj" fmla="val 4469"/>
            </a:avLst>
          </a:prstGeom>
          <a:solidFill>
            <a:srgbClr val="FFFDF7"/>
          </a:solidFill>
          <a:ln/>
        </p:spPr>
        <p:txBody>
          <a:bodyPr/>
          <a:lstStyle/>
          <a:p>
            <a:endParaRPr lang="en-US"/>
          </a:p>
        </p:txBody>
      </p:sp>
      <p:sp>
        <p:nvSpPr>
          <p:cNvPr id="5" name="Shape 3"/>
          <p:cNvSpPr/>
          <p:nvPr/>
        </p:nvSpPr>
        <p:spPr>
          <a:xfrm>
            <a:off x="812800" y="1822450"/>
            <a:ext cx="5181600" cy="2273300"/>
          </a:xfrm>
          <a:custGeom>
            <a:avLst/>
            <a:gdLst/>
            <a:ahLst/>
            <a:cxnLst/>
            <a:rect l="l" t="t" r="r" b="b"/>
            <a:pathLst>
              <a:path w="5181600" h="2273300">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2F6B4F"/>
          </a:solidFill>
          <a:ln/>
        </p:spPr>
        <p:txBody>
          <a:bodyPr/>
          <a:lstStyle/>
          <a:p>
            <a:endParaRPr lang="en-US"/>
          </a:p>
        </p:txBody>
      </p:sp>
      <p:sp>
        <p:nvSpPr>
          <p:cNvPr id="6" name="Text 4"/>
          <p:cNvSpPr/>
          <p:nvPr/>
        </p:nvSpPr>
        <p:spPr>
          <a:xfrm>
            <a:off x="1066800" y="2127250"/>
            <a:ext cx="481380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Strengths</a:t>
            </a:r>
            <a:endParaRPr lang="en-US" sz="1600" dirty="0"/>
          </a:p>
        </p:txBody>
      </p:sp>
      <p:sp>
        <p:nvSpPr>
          <p:cNvPr id="7" name="Text 5"/>
          <p:cNvSpPr/>
          <p:nvPr/>
        </p:nvSpPr>
        <p:spPr>
          <a:xfrm>
            <a:off x="1178306" y="2470150"/>
            <a:ext cx="4694682" cy="1397000"/>
          </a:xfrm>
          <a:prstGeom prst="rect">
            <a:avLst/>
          </a:prstGeom>
          <a:noFill/>
          <a:ln/>
        </p:spPr>
        <p:txBody>
          <a:bodyPr wrap="square" lIns="0" tIns="0" rIns="0" bIns="0" rtlCol="0" anchor="t">
            <a:normAutofit/>
          </a:bodyPr>
          <a:lstStyle/>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A 28-question form with branching, so each group sees only the questions that apply</a:t>
            </a:r>
            <a:endParaRPr lang="en-US" sz="1200" dirty="0"/>
          </a:p>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Every figure comes from a formula and states its base</a:t>
            </a:r>
            <a:endParaRPr lang="en-US" sz="1200" dirty="0"/>
          </a:p>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24 of 24 validation checks passed</a:t>
            </a:r>
            <a:endParaRPr lang="en-US" sz="1200" dirty="0"/>
          </a:p>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Tool chosen against measured needs, with features checked in its source code</a:t>
            </a:r>
            <a:endParaRPr lang="en-US" sz="1200" dirty="0"/>
          </a:p>
        </p:txBody>
      </p:sp>
      <p:sp>
        <p:nvSpPr>
          <p:cNvPr id="8" name="Shape 6"/>
          <p:cNvSpPr/>
          <p:nvPr/>
        </p:nvSpPr>
        <p:spPr>
          <a:xfrm>
            <a:off x="6197600" y="1822450"/>
            <a:ext cx="5181600" cy="2273300"/>
          </a:xfrm>
          <a:prstGeom prst="roundRect">
            <a:avLst>
              <a:gd name="adj" fmla="val 4469"/>
            </a:avLst>
          </a:prstGeom>
          <a:solidFill>
            <a:srgbClr val="FFFDF7"/>
          </a:solidFill>
          <a:ln/>
        </p:spPr>
        <p:txBody>
          <a:bodyPr/>
          <a:lstStyle/>
          <a:p>
            <a:endParaRPr lang="en-US"/>
          </a:p>
        </p:txBody>
      </p:sp>
      <p:sp>
        <p:nvSpPr>
          <p:cNvPr id="9" name="Shape 7"/>
          <p:cNvSpPr/>
          <p:nvPr/>
        </p:nvSpPr>
        <p:spPr>
          <a:xfrm>
            <a:off x="6197600" y="1822450"/>
            <a:ext cx="5181600" cy="2273300"/>
          </a:xfrm>
          <a:custGeom>
            <a:avLst/>
            <a:gdLst/>
            <a:ahLst/>
            <a:cxnLst/>
            <a:rect l="l" t="t" r="r" b="b"/>
            <a:pathLst>
              <a:path w="5181600" h="2273300">
                <a:moveTo>
                  <a:pt x="0" y="101600"/>
                </a:moveTo>
                <a:lnTo>
                  <a:pt x="0" y="101600"/>
                </a:lnTo>
                <a:arcTo wR="101600" hR="101600" stAng="10800000" swAng="5400000"/>
                <a:lnTo>
                  <a:pt x="5080000" y="0"/>
                </a:lnTo>
                <a:arcTo wR="101600" hR="101600" stAng="16200000" swAng="5400000"/>
                <a:lnTo>
                  <a:pt x="5181600" y="101600"/>
                </a:lnTo>
                <a:arcTo wR="101600" hR="50800" stAng="0" swAng="-5400000"/>
                <a:lnTo>
                  <a:pt x="101600" y="50800"/>
                </a:lnTo>
                <a:arcTo wR="101600" hR="50800" stAng="16200000" swAng="-5400000"/>
                <a:close/>
              </a:path>
            </a:pathLst>
          </a:custGeom>
          <a:solidFill>
            <a:srgbClr val="B5701A"/>
          </a:solidFill>
          <a:ln/>
        </p:spPr>
        <p:txBody>
          <a:bodyPr/>
          <a:lstStyle/>
          <a:p>
            <a:endParaRPr lang="en-US"/>
          </a:p>
        </p:txBody>
      </p:sp>
      <p:sp>
        <p:nvSpPr>
          <p:cNvPr id="10" name="Text 8"/>
          <p:cNvSpPr/>
          <p:nvPr/>
        </p:nvSpPr>
        <p:spPr>
          <a:xfrm>
            <a:off x="6451600" y="2127250"/>
            <a:ext cx="4813808" cy="26670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F3A2E"/>
                </a:solidFill>
                <a:latin typeface="Georgia" pitchFamily="18" charset="0"/>
                <a:ea typeface="Georgia" pitchFamily="18" charset="-122"/>
                <a:cs typeface="Georgia" pitchFamily="18" charset="-120"/>
              </a:rPr>
              <a:t>Limitations</a:t>
            </a:r>
            <a:endParaRPr lang="en-US" sz="1600" dirty="0"/>
          </a:p>
        </p:txBody>
      </p:sp>
      <p:sp>
        <p:nvSpPr>
          <p:cNvPr id="11" name="Text 9"/>
          <p:cNvSpPr/>
          <p:nvPr/>
        </p:nvSpPr>
        <p:spPr>
          <a:xfrm>
            <a:off x="6563106" y="2470150"/>
            <a:ext cx="4694682" cy="1397000"/>
          </a:xfrm>
          <a:prstGeom prst="rect">
            <a:avLst/>
          </a:prstGeom>
          <a:noFill/>
          <a:ln/>
        </p:spPr>
        <p:txBody>
          <a:bodyPr wrap="square" lIns="0" tIns="0" rIns="0" bIns="0" rtlCol="0" anchor="t">
            <a:normAutofit/>
          </a:bodyPr>
          <a:lstStyle/>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Self-report brings recall and social desirability bias</a:t>
            </a:r>
            <a:endParaRPr lang="en-US" sz="1200" dirty="0"/>
          </a:p>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Weekly frequencies only, with no portions, energy or nutrients yet</a:t>
            </a:r>
            <a:endParaRPr lang="en-US" sz="1200" dirty="0"/>
          </a:p>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Small sample, and 60% are students</a:t>
            </a:r>
            <a:endParaRPr lang="en-US" sz="1200" dirty="0"/>
          </a:p>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E1’s “None of these” option clashes with E2’s forced three picks</a:t>
            </a:r>
            <a:endParaRPr lang="en-US" sz="1200" dirty="0"/>
          </a:p>
          <a:p>
            <a:pPr marL="142494" indent="-142494" algn="l">
              <a:lnSpc>
                <a:spcPts val="1800"/>
              </a:lnSpc>
              <a:buSzPct val="100000"/>
              <a:buChar char="•"/>
            </a:pPr>
            <a:r>
              <a:rPr lang="en-US" sz="1200" dirty="0">
                <a:solidFill>
                  <a:srgbClr val="4A5550"/>
                </a:solidFill>
                <a:latin typeface="Arial" pitchFamily="34" charset="0"/>
                <a:ea typeface="Arial" pitchFamily="34" charset="-122"/>
                <a:cs typeface="Arial" pitchFamily="34" charset="-120"/>
              </a:rPr>
              <a:t>The food log will add under-reporting, portion errors, database gaps and reactivity</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DE7D9"/>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2F6B4F"/>
                </a:solidFill>
                <a:latin typeface="Arial" pitchFamily="34" charset="0"/>
                <a:ea typeface="Arial" pitchFamily="34" charset="-122"/>
                <a:cs typeface="Arial" pitchFamily="34" charset="-120"/>
              </a:rPr>
              <a:t>NEXT STEPS</a:t>
            </a:r>
            <a:endParaRPr lang="en-US" sz="1200" dirty="0"/>
          </a:p>
        </p:txBody>
      </p:sp>
      <p:sp>
        <p:nvSpPr>
          <p:cNvPr id="3" name="Text 1"/>
          <p:cNvSpPr>
            <a:spLocks noGrp="1"/>
          </p:cNvSpPr>
          <p:nvPr>
            <p:ph type="title"/>
          </p:nvPr>
        </p:nvSpPr>
        <p:spPr>
          <a:xfrm>
            <a:off x="812800" y="1123950"/>
            <a:ext cx="10883392" cy="46990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F3A2E"/>
                </a:solidFill>
                <a:latin typeface="Georgia" pitchFamily="18" charset="0"/>
                <a:ea typeface="Georgia" pitchFamily="18" charset="-122"/>
                <a:cs typeface="Georgia" pitchFamily="18" charset="-120"/>
              </a:rPr>
              <a:t>Completing the objectives</a:t>
            </a:r>
            <a:endParaRPr lang="en-US" sz="3200" dirty="0"/>
          </a:p>
        </p:txBody>
      </p:sp>
      <p:sp>
        <p:nvSpPr>
          <p:cNvPr id="4" name="Shape 2"/>
          <p:cNvSpPr/>
          <p:nvPr/>
        </p:nvSpPr>
        <p:spPr>
          <a:xfrm>
            <a:off x="812800" y="1822450"/>
            <a:ext cx="10566400" cy="692150"/>
          </a:xfrm>
          <a:prstGeom prst="roundRect">
            <a:avLst>
              <a:gd name="adj" fmla="val 14679"/>
            </a:avLst>
          </a:prstGeom>
          <a:solidFill>
            <a:srgbClr val="FFFDF7"/>
          </a:solidFill>
          <a:ln/>
        </p:spPr>
        <p:txBody>
          <a:bodyPr/>
          <a:lstStyle/>
          <a:p>
            <a:endParaRPr lang="en-US"/>
          </a:p>
        </p:txBody>
      </p:sp>
      <p:sp>
        <p:nvSpPr>
          <p:cNvPr id="5" name="Text 3"/>
          <p:cNvSpPr/>
          <p:nvPr/>
        </p:nvSpPr>
        <p:spPr>
          <a:xfrm>
            <a:off x="1016000" y="1974850"/>
            <a:ext cx="4064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1</a:t>
            </a:r>
            <a:endParaRPr lang="en-US" sz="2200" dirty="0"/>
          </a:p>
        </p:txBody>
      </p:sp>
      <p:sp>
        <p:nvSpPr>
          <p:cNvPr id="6" name="Text 4"/>
          <p:cNvSpPr/>
          <p:nvPr/>
        </p:nvSpPr>
        <p:spPr>
          <a:xfrm>
            <a:off x="1549400" y="2032000"/>
            <a:ext cx="9915398" cy="29845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24"/>
                </a:solidFill>
                <a:latin typeface="Arial" pitchFamily="34" charset="0"/>
                <a:ea typeface="Arial" pitchFamily="34" charset="-122"/>
                <a:cs typeface="Arial" pitchFamily="34" charset="-120"/>
              </a:rPr>
              <a:t>Run the survey with real participants through the anonymous Google Form</a:t>
            </a:r>
            <a:endParaRPr lang="en-US" sz="1600" dirty="0"/>
          </a:p>
        </p:txBody>
      </p:sp>
      <p:sp>
        <p:nvSpPr>
          <p:cNvPr id="7" name="Shape 5"/>
          <p:cNvSpPr/>
          <p:nvPr/>
        </p:nvSpPr>
        <p:spPr>
          <a:xfrm>
            <a:off x="812800" y="2641600"/>
            <a:ext cx="10566400" cy="692150"/>
          </a:xfrm>
          <a:prstGeom prst="roundRect">
            <a:avLst>
              <a:gd name="adj" fmla="val 14679"/>
            </a:avLst>
          </a:prstGeom>
          <a:solidFill>
            <a:srgbClr val="FFFDF7"/>
          </a:solidFill>
          <a:ln/>
        </p:spPr>
        <p:txBody>
          <a:bodyPr/>
          <a:lstStyle/>
          <a:p>
            <a:endParaRPr lang="en-US"/>
          </a:p>
        </p:txBody>
      </p:sp>
      <p:sp>
        <p:nvSpPr>
          <p:cNvPr id="8" name="Text 6"/>
          <p:cNvSpPr/>
          <p:nvPr/>
        </p:nvSpPr>
        <p:spPr>
          <a:xfrm>
            <a:off x="1016000" y="2794000"/>
            <a:ext cx="4064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2</a:t>
            </a:r>
            <a:endParaRPr lang="en-US" sz="2200" dirty="0"/>
          </a:p>
        </p:txBody>
      </p:sp>
      <p:sp>
        <p:nvSpPr>
          <p:cNvPr id="9" name="Text 7"/>
          <p:cNvSpPr/>
          <p:nvPr/>
        </p:nvSpPr>
        <p:spPr>
          <a:xfrm>
            <a:off x="1549400" y="2851150"/>
            <a:ext cx="9915398" cy="29845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24"/>
                </a:solidFill>
                <a:latin typeface="Arial" pitchFamily="34" charset="0"/>
                <a:ea typeface="Arial" pitchFamily="34" charset="-122"/>
                <a:cs typeface="Arial" pitchFamily="34" charset="-120"/>
              </a:rPr>
              <a:t>Run the 7-day log in Syntropy, logging every meal, snack and drink as eaten</a:t>
            </a:r>
            <a:endParaRPr lang="en-US" sz="1600" dirty="0"/>
          </a:p>
        </p:txBody>
      </p:sp>
      <p:sp>
        <p:nvSpPr>
          <p:cNvPr id="10" name="Shape 8"/>
          <p:cNvSpPr/>
          <p:nvPr/>
        </p:nvSpPr>
        <p:spPr>
          <a:xfrm>
            <a:off x="812800" y="3460750"/>
            <a:ext cx="10566400" cy="692150"/>
          </a:xfrm>
          <a:prstGeom prst="roundRect">
            <a:avLst>
              <a:gd name="adj" fmla="val 14679"/>
            </a:avLst>
          </a:prstGeom>
          <a:solidFill>
            <a:srgbClr val="FFFDF7"/>
          </a:solidFill>
          <a:ln/>
        </p:spPr>
        <p:txBody>
          <a:bodyPr/>
          <a:lstStyle/>
          <a:p>
            <a:endParaRPr lang="en-US"/>
          </a:p>
        </p:txBody>
      </p:sp>
      <p:sp>
        <p:nvSpPr>
          <p:cNvPr id="11" name="Text 9"/>
          <p:cNvSpPr/>
          <p:nvPr/>
        </p:nvSpPr>
        <p:spPr>
          <a:xfrm>
            <a:off x="1016000" y="3613150"/>
            <a:ext cx="4064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3</a:t>
            </a:r>
            <a:endParaRPr lang="en-US" sz="2200" dirty="0"/>
          </a:p>
        </p:txBody>
      </p:sp>
      <p:sp>
        <p:nvSpPr>
          <p:cNvPr id="12" name="Text 10"/>
          <p:cNvSpPr/>
          <p:nvPr/>
        </p:nvSpPr>
        <p:spPr>
          <a:xfrm>
            <a:off x="1549400" y="3670300"/>
            <a:ext cx="9915398" cy="29845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24"/>
                </a:solidFill>
                <a:latin typeface="Arial" pitchFamily="34" charset="0"/>
                <a:ea typeface="Arial" pitchFamily="34" charset="-122"/>
                <a:cs typeface="Arial" pitchFamily="34" charset="-120"/>
              </a:rPr>
              <a:t>Clean the logs: missing days, duplicates, odd portions; record every exclusion</a:t>
            </a:r>
            <a:endParaRPr lang="en-US" sz="1600" dirty="0"/>
          </a:p>
        </p:txBody>
      </p:sp>
      <p:sp>
        <p:nvSpPr>
          <p:cNvPr id="13" name="Shape 11"/>
          <p:cNvSpPr/>
          <p:nvPr/>
        </p:nvSpPr>
        <p:spPr>
          <a:xfrm>
            <a:off x="812800" y="4279900"/>
            <a:ext cx="10566400" cy="692150"/>
          </a:xfrm>
          <a:prstGeom prst="roundRect">
            <a:avLst>
              <a:gd name="adj" fmla="val 14679"/>
            </a:avLst>
          </a:prstGeom>
          <a:solidFill>
            <a:srgbClr val="FFFDF7"/>
          </a:solidFill>
          <a:ln/>
        </p:spPr>
        <p:txBody>
          <a:bodyPr/>
          <a:lstStyle/>
          <a:p>
            <a:endParaRPr lang="en-US"/>
          </a:p>
        </p:txBody>
      </p:sp>
      <p:sp>
        <p:nvSpPr>
          <p:cNvPr id="14" name="Text 12"/>
          <p:cNvSpPr/>
          <p:nvPr/>
        </p:nvSpPr>
        <p:spPr>
          <a:xfrm>
            <a:off x="1016000" y="4432300"/>
            <a:ext cx="4064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4</a:t>
            </a:r>
            <a:endParaRPr lang="en-US" sz="2200" dirty="0"/>
          </a:p>
        </p:txBody>
      </p:sp>
      <p:sp>
        <p:nvSpPr>
          <p:cNvPr id="15" name="Text 13"/>
          <p:cNvSpPr/>
          <p:nvPr/>
        </p:nvSpPr>
        <p:spPr>
          <a:xfrm>
            <a:off x="1549400" y="4489450"/>
            <a:ext cx="9915398" cy="29845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24"/>
                </a:solidFill>
                <a:latin typeface="Arial" pitchFamily="34" charset="0"/>
                <a:ea typeface="Arial" pitchFamily="34" charset="-122"/>
                <a:cs typeface="Arial" pitchFamily="34" charset="-120"/>
              </a:rPr>
              <a:t>Group foods, then compute dietary diversity, energy, carbohydrate, protein and fat</a:t>
            </a:r>
            <a:endParaRPr lang="en-US" sz="1600" dirty="0"/>
          </a:p>
        </p:txBody>
      </p:sp>
      <p:sp>
        <p:nvSpPr>
          <p:cNvPr id="16" name="Shape 14"/>
          <p:cNvSpPr/>
          <p:nvPr/>
        </p:nvSpPr>
        <p:spPr>
          <a:xfrm>
            <a:off x="812800" y="5099050"/>
            <a:ext cx="10566400" cy="692150"/>
          </a:xfrm>
          <a:prstGeom prst="roundRect">
            <a:avLst>
              <a:gd name="adj" fmla="val 14679"/>
            </a:avLst>
          </a:prstGeom>
          <a:solidFill>
            <a:srgbClr val="FFFDF7"/>
          </a:solidFill>
          <a:ln/>
        </p:spPr>
        <p:txBody>
          <a:bodyPr/>
          <a:lstStyle/>
          <a:p>
            <a:endParaRPr lang="en-US"/>
          </a:p>
        </p:txBody>
      </p:sp>
      <p:sp>
        <p:nvSpPr>
          <p:cNvPr id="17" name="Text 15"/>
          <p:cNvSpPr/>
          <p:nvPr/>
        </p:nvSpPr>
        <p:spPr>
          <a:xfrm>
            <a:off x="1016000" y="5251450"/>
            <a:ext cx="406400" cy="412750"/>
          </a:xfrm>
          <a:prstGeom prst="rect">
            <a:avLst/>
          </a:prstGeom>
          <a:noFill/>
          <a:ln/>
        </p:spPr>
        <p:txBody>
          <a:bodyPr wrap="square" lIns="0" tIns="0" rIns="0" bIns="0" rtlCol="0" anchor="t">
            <a:normAutofit/>
          </a:bodyPr>
          <a:lstStyle/>
          <a:p>
            <a:pPr marL="0" indent="0" algn="l">
              <a:lnSpc>
                <a:spcPts val="3080"/>
              </a:lnSpc>
              <a:buNone/>
            </a:pPr>
            <a:r>
              <a:rPr lang="en-US" sz="2200" b="1" dirty="0">
                <a:solidFill>
                  <a:srgbClr val="B5701A"/>
                </a:solidFill>
                <a:latin typeface="Georgia" pitchFamily="18" charset="0"/>
                <a:ea typeface="Georgia" pitchFamily="18" charset="-122"/>
                <a:cs typeface="Georgia" pitchFamily="18" charset="-120"/>
              </a:rPr>
              <a:t>5</a:t>
            </a:r>
            <a:endParaRPr lang="en-US" sz="2200" dirty="0"/>
          </a:p>
        </p:txBody>
      </p:sp>
      <p:sp>
        <p:nvSpPr>
          <p:cNvPr id="18" name="Text 16"/>
          <p:cNvSpPr/>
          <p:nvPr/>
        </p:nvSpPr>
        <p:spPr>
          <a:xfrm>
            <a:off x="1549400" y="5308600"/>
            <a:ext cx="9915398" cy="298450"/>
          </a:xfrm>
          <a:prstGeom prst="rect">
            <a:avLst/>
          </a:prstGeom>
          <a:noFill/>
          <a:ln/>
        </p:spPr>
        <p:txBody>
          <a:bodyPr wrap="square" lIns="0" tIns="0" rIns="0" bIns="0" rtlCol="0" anchor="t">
            <a:normAutofit/>
          </a:bodyPr>
          <a:lstStyle/>
          <a:p>
            <a:pPr marL="0" indent="0" algn="l">
              <a:lnSpc>
                <a:spcPts val="2160"/>
              </a:lnSpc>
              <a:buNone/>
            </a:pPr>
            <a:r>
              <a:rPr lang="en-US" sz="1600" dirty="0">
                <a:solidFill>
                  <a:srgbClr val="1F2A24"/>
                </a:solidFill>
                <a:latin typeface="Arial" pitchFamily="34" charset="0"/>
                <a:ea typeface="Arial" pitchFamily="34" charset="-122"/>
                <a:cs typeface="Arial" pitchFamily="34" charset="-120"/>
              </a:rPr>
              <a:t>Report mean ± SD and medians; compare with ICMR-NIN Dietary Guidelines 2024</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F3A2E"/>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495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E8A94A"/>
                </a:solidFill>
                <a:latin typeface="Arial" pitchFamily="34" charset="0"/>
                <a:ea typeface="Arial" pitchFamily="34" charset="-122"/>
                <a:cs typeface="Arial" pitchFamily="34" charset="-120"/>
              </a:rPr>
              <a:t>IN THIRTY SECONDS</a:t>
            </a:r>
            <a:endParaRPr lang="en-US" sz="1200" dirty="0"/>
          </a:p>
        </p:txBody>
      </p:sp>
      <p:sp>
        <p:nvSpPr>
          <p:cNvPr id="3" name="Text 1"/>
          <p:cNvSpPr/>
          <p:nvPr/>
        </p:nvSpPr>
        <p:spPr>
          <a:xfrm>
            <a:off x="812800" y="1225550"/>
            <a:ext cx="10883392" cy="1549400"/>
          </a:xfrm>
          <a:prstGeom prst="rect">
            <a:avLst/>
          </a:prstGeom>
          <a:noFill/>
          <a:ln/>
        </p:spPr>
        <p:txBody>
          <a:bodyPr wrap="square" lIns="0" tIns="0" rIns="0" bIns="0" rtlCol="0" anchor="t">
            <a:normAutofit/>
          </a:bodyPr>
          <a:lstStyle/>
          <a:p>
            <a:pPr marL="0" indent="0" algn="l">
              <a:lnSpc>
                <a:spcPts val="2400"/>
              </a:lnSpc>
              <a:buNone/>
            </a:pPr>
            <a:r>
              <a:rPr lang="en-US" sz="1600" dirty="0">
                <a:solidFill>
                  <a:srgbClr val="E4ECE7"/>
                </a:solidFill>
                <a:latin typeface="Arial" pitchFamily="34" charset="0"/>
                <a:ea typeface="Arial" pitchFamily="34" charset="-122"/>
                <a:cs typeface="Arial" pitchFamily="34" charset="-120"/>
              </a:rPr>
              <a:t>We are studying dietary patterns with a technology-based food logging tool. Our 28-question pilot survey of 35 responses shows three meals a day but frequent breakfast skipping, vegetables on most days but little fruit, and eating patterns that follow where meals come from. People struggle most with Indian and mixed dishes and think in katoris rather than grams. Syntropy covers most of these needs. The seven-day food log comes next, to measure food groups, diversity, energy and macronutrients.</a:t>
            </a:r>
            <a:endParaRPr lang="en-US" sz="1600" dirty="0"/>
          </a:p>
        </p:txBody>
      </p:sp>
      <p:sp>
        <p:nvSpPr>
          <p:cNvPr id="4" name="Text 2"/>
          <p:cNvSpPr>
            <a:spLocks noGrp="1"/>
          </p:cNvSpPr>
          <p:nvPr>
            <p:ph type="title"/>
          </p:nvPr>
        </p:nvSpPr>
        <p:spPr>
          <a:xfrm>
            <a:off x="812800" y="5378450"/>
            <a:ext cx="10883392" cy="69215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7F4EC"/>
                </a:solidFill>
                <a:latin typeface="Georgia" pitchFamily="18" charset="0"/>
                <a:ea typeface="Georgia" pitchFamily="18" charset="-122"/>
                <a:cs typeface="Georgia" pitchFamily="18" charset="-120"/>
              </a:rPr>
              <a:t>Thank you. </a:t>
            </a:r>
            <a:endParaRPr lang="en-US" sz="4800" dirty="0"/>
          </a:p>
        </p:txBody>
      </p:sp>
    </p:spTree>
  </p:cSld>
  <p:clrMapOvr>
    <a:masterClrMapping/>
  </p:clrMapOvr>
</p:sld>
</file>

<file path=ppt/theme/theme1.xml><?xml version="1.0" encoding="utf-8"?>
<a:theme xmlns:a="http://schemas.openxmlformats.org/drawingml/2006/main" name="Dietary Pattern Analysis">
  <a:themeElements>
    <a:clrScheme name="Dietary Pattern Analysis">
      <a:dk1>
        <a:srgbClr val="1F3A2E"/>
      </a:dk1>
      <a:lt1>
        <a:srgbClr val="F7F4EC"/>
      </a:lt1>
      <a:dk2>
        <a:srgbClr val="55695E"/>
      </a:dk2>
      <a:lt2>
        <a:srgbClr val="E1E1D9"/>
      </a:lt2>
      <a:accent1>
        <a:srgbClr val="B5701A"/>
      </a:accent1>
      <a:accent2>
        <a:srgbClr val="2F6B4F"/>
      </a:accent2>
      <a:accent3>
        <a:srgbClr val="F3E2C4"/>
      </a:accent3>
      <a:accent4>
        <a:srgbClr val="E8A94A"/>
      </a:accent4>
      <a:accent5>
        <a:srgbClr val="6B3F08"/>
      </a:accent5>
      <a:accent6>
        <a:srgbClr val="3D2A10"/>
      </a:accent6>
      <a:hlink>
        <a:srgbClr val="0563C1"/>
      </a:hlink>
      <a:folHlink>
        <a:srgbClr val="954F72"/>
      </a:folHlink>
    </a:clrScheme>
    <a:fontScheme name="Dietary Pattern Analysi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4888</Words>
  <Application>Microsoft Macintosh PowerPoint</Application>
  <PresentationFormat>Widescreen</PresentationFormat>
  <Paragraphs>563</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Georgia</vt:lpstr>
      <vt:lpstr>Dietary Pattern Analysis</vt:lpstr>
      <vt:lpstr>Dietary Pattern Analysis Using a Technology-Based Food Logging Tool</vt:lpstr>
      <vt:lpstr>Looking at the whole plate</vt:lpstr>
      <vt:lpstr>Our four objectives</vt:lpstr>
      <vt:lpstr>Two phases of data collection</vt:lpstr>
      <vt:lpstr>Why we chose Syntropy</vt:lpstr>
      <vt:lpstr>Survey and analysis</vt:lpstr>
      <vt:lpstr>What kind of data have we collected?</vt:lpstr>
      <vt:lpstr>Who the 35 respondents are</vt:lpstr>
      <vt:lpstr>From raw answers to clean data</vt:lpstr>
      <vt:lpstr>How are we analysing and presenting it?</vt:lpstr>
      <vt:lpstr>Three meals a day, often not on time</vt:lpstr>
      <vt:lpstr>Vegetables most days, fruit much less</vt:lpstr>
      <vt:lpstr>Where meals come from matters</vt:lpstr>
      <vt:lpstr>Four self-reported dietary patterns</vt:lpstr>
      <vt:lpstr>Protein is the gap people feel most</vt:lpstr>
      <vt:lpstr>Indian and mixed dishes are hardest</vt:lpstr>
      <vt:lpstr>Slow logging pushes people away</vt:lpstr>
      <vt:lpstr>Photos, Indian food and katoris</vt:lpstr>
      <vt:lpstr>How Syntropy covers what we found</vt:lpstr>
      <vt:lpstr>Achievement of objectives</vt:lpstr>
      <vt:lpstr>Where each objective stands</vt:lpstr>
      <vt:lpstr>Strengths and limitations</vt:lpstr>
      <vt:lpstr>Completing the objectives</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Dietary Pattern Analysis</dc:title>
  <dc:subject/>
  <dc:creator/>
  <cp:lastModifiedBy>SANKALP MITTAL - 70522300003</cp:lastModifiedBy>
  <cp:revision>2</cp:revision>
  <dcterms:created xsi:type="dcterms:W3CDTF">2026-10-22T13:04:40Z</dcterms:created>
  <dcterms:modified xsi:type="dcterms:W3CDTF">2026-10-22T13:06:18Z</dcterms:modified>
</cp:coreProperties>
</file>